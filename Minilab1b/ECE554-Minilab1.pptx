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68" r:id="rId2"/>
    <p:sldId id="310" r:id="rId3"/>
    <p:sldId id="306" r:id="rId4"/>
    <p:sldId id="303" r:id="rId5"/>
    <p:sldId id="311" r:id="rId6"/>
    <p:sldId id="307" r:id="rId7"/>
    <p:sldId id="305" r:id="rId8"/>
    <p:sldId id="308" r:id="rId9"/>
    <p:sldId id="309" r:id="rId10"/>
    <p:sldId id="27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9D61"/>
    <a:srgbClr val="C5050C"/>
    <a:srgbClr val="047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42"/>
    <p:restoredTop sz="96327"/>
  </p:normalViewPr>
  <p:slideViewPr>
    <p:cSldViewPr snapToGrid="0" snapToObjects="1">
      <p:cViewPr varScale="1">
        <p:scale>
          <a:sx n="127" d="100"/>
          <a:sy n="127" d="100"/>
        </p:scale>
        <p:origin x="187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C9D30-F937-4946-BF68-C2E8F399033D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57A40-3F5B-2746-BCA8-8E2C028FF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86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31B425-093C-0149-952F-11573DF09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917" y="3218871"/>
            <a:ext cx="353642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1AB265-C0D2-A543-B156-B0221787B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33907"/>
            <a:ext cx="9144000" cy="11240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B10240F-B4BA-0448-B9CB-BAB80DBF6B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8917" y="3519489"/>
            <a:ext cx="6250685" cy="701877"/>
          </a:xfrm>
        </p:spPr>
        <p:txBody>
          <a:bodyPr anchor="t">
            <a:noAutofit/>
          </a:bodyPr>
          <a:lstStyle>
            <a:lvl1pPr marL="0" indent="0"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subtitle, date, or other important information, not to exceed two lines 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54FFE49-5199-9649-BB93-1060548611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917" y="5953913"/>
            <a:ext cx="7733559" cy="5230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name, position, department/unit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2149A-1AC5-EAB4-F682-FE3921983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916" y="905689"/>
            <a:ext cx="6250685" cy="2106570"/>
          </a:xfrm>
        </p:spPr>
        <p:txBody>
          <a:bodyPr rIns="91440">
            <a:normAutofit/>
          </a:bodyPr>
          <a:lstStyle>
            <a:lvl1pPr>
              <a:defRPr sz="3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Insert slide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B1C6F3-8D05-7245-98E0-6A89EF37B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57339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C8FEA31-74AA-D38F-EA91-4C16C8097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916" y="905689"/>
            <a:ext cx="6250685" cy="2106570"/>
          </a:xfrm>
        </p:spPr>
        <p:txBody>
          <a:bodyPr rIns="91440">
            <a:normAutofit/>
          </a:bodyPr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slide title in title or sentence case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31B425-093C-0149-952F-11573DF09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917" y="3218871"/>
            <a:ext cx="353642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B10240F-B4BA-0448-B9CB-BAB80DBF6B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8917" y="3519489"/>
            <a:ext cx="6250685" cy="701877"/>
          </a:xfrm>
        </p:spPr>
        <p:txBody>
          <a:bodyPr anchor="t">
            <a:noAutofit/>
          </a:bodyPr>
          <a:lstStyle>
            <a:lvl1pPr marL="0" indent="0">
              <a:buNone/>
              <a:defRPr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subtitle, date, or other important information, not to exceed two lines 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54FFE49-5199-9649-BB93-1060548611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917" y="5953913"/>
            <a:ext cx="7733559" cy="5230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6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department/unit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797619-8B01-0549-8F5E-787C3097DC7B}"/>
              </a:ext>
            </a:extLst>
          </p:cNvPr>
          <p:cNvSpPr/>
          <p:nvPr userDrawn="1"/>
        </p:nvSpPr>
        <p:spPr>
          <a:xfrm>
            <a:off x="8530683" y="0"/>
            <a:ext cx="528175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A5686C4D-738C-8049-8292-137F1F10E4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69280" y="222227"/>
            <a:ext cx="456123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92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BA04-41CB-7DC9-9DBE-9064F7EA5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Ins="91440"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Insert slide title in title or sentence case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DFC75F-7C56-4347-B180-B45A7C3C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1476" y="1625704"/>
            <a:ext cx="353642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33615FB-E867-334E-BB0E-3B18A26595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4425" y="1840448"/>
            <a:ext cx="7258050" cy="444605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tabLst/>
              <a:defRPr sz="2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3A315EF-C99D-DF4A-94FC-CDB4F9DECB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42915"/>
            <a:ext cx="6395020" cy="350865"/>
          </a:xfrm>
          <a:solidFill>
            <a:schemeClr val="accent1"/>
          </a:solidFill>
          <a:ln>
            <a:noFill/>
          </a:ln>
        </p:spPr>
        <p:txBody>
          <a:bodyPr wrap="none" lIns="274320" tIns="64008" rIns="91440" bIns="91440" anchor="ctr" anchorCtr="0">
            <a:sp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Insert presentation topic or department/unit name (text box will expand to fit)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4652-6CC7-DA2F-2E59-F8C622A809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57200"/>
            <a:ext cx="8001000" cy="1066800"/>
          </a:xfrm>
        </p:spPr>
        <p:txBody>
          <a:bodyPr rIns="91440"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Insert slide title in title or sentence case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DFC75F-7C56-4347-B180-B45A7C3C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1476" y="1625704"/>
            <a:ext cx="353642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33615FB-E867-334E-BB0E-3B18A26595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4425" y="1840448"/>
            <a:ext cx="3361911" cy="444605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tabLst/>
              <a:defRPr sz="1950">
                <a:solidFill>
                  <a:schemeClr val="tx1"/>
                </a:solidFill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3A315EF-C99D-DF4A-94FC-CDB4F9DECB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6512155"/>
            <a:ext cx="6395020" cy="350865"/>
          </a:xfrm>
          <a:solidFill>
            <a:schemeClr val="accent1"/>
          </a:solidFill>
          <a:ln>
            <a:noFill/>
          </a:ln>
        </p:spPr>
        <p:txBody>
          <a:bodyPr wrap="none" lIns="274320" tIns="64008" rIns="91440" bIns="91440" anchor="ctr" anchorCtr="0">
            <a:sp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Insert presentation topic or department/unit name (text box will expand to fit)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B0DEE38D-2FF0-2A49-A7D1-AF607FA3AB7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67665" y="1840448"/>
            <a:ext cx="3704810" cy="444605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tabLst/>
              <a:defRPr sz="1950">
                <a:solidFill>
                  <a:schemeClr val="tx1"/>
                </a:solidFill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  <a:p>
            <a:pPr lvl="0"/>
            <a:r>
              <a:rPr lang="en-US" dirty="0"/>
              <a:t>Bulleted list</a:t>
            </a:r>
          </a:p>
        </p:txBody>
      </p:sp>
    </p:spTree>
    <p:extLst>
      <p:ext uri="{BB962C8B-B14F-4D97-AF65-F5344CB8AC3E}">
        <p14:creationId xmlns:p14="http://schemas.microsoft.com/office/powerpoint/2010/main" val="3740767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7A194C-A4B8-2148-8BE0-5451BAAC5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234"/>
            <a:ext cx="9144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7C912DB-E11B-3D4C-9D09-221D4E874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024128"/>
            <a:ext cx="8372475" cy="5825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3DBCEB-EA83-B646-A716-9EAB713C52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4226929"/>
            <a:ext cx="3948113" cy="354459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dirty="0"/>
              <a:t>Insert subtitle if needed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2A8E911-3157-1444-8D3E-B3404B047192}"/>
              </a:ext>
            </a:extLst>
          </p:cNvPr>
          <p:cNvSpPr/>
          <p:nvPr userDrawn="1"/>
        </p:nvSpPr>
        <p:spPr>
          <a:xfrm>
            <a:off x="6535674" y="1024128"/>
            <a:ext cx="1836801" cy="5833872"/>
          </a:xfrm>
          <a:custGeom>
            <a:avLst/>
            <a:gdLst>
              <a:gd name="connsiteX0" fmla="*/ 0 w 3290316"/>
              <a:gd name="connsiteY0" fmla="*/ 0 h 6193766"/>
              <a:gd name="connsiteX1" fmla="*/ 1490472 w 3290316"/>
              <a:gd name="connsiteY1" fmla="*/ 0 h 6193766"/>
              <a:gd name="connsiteX2" fmla="*/ 2980944 w 3290316"/>
              <a:gd name="connsiteY2" fmla="*/ 0 h 6193766"/>
              <a:gd name="connsiteX3" fmla="*/ 3290316 w 3290316"/>
              <a:gd name="connsiteY3" fmla="*/ 0 h 6193766"/>
              <a:gd name="connsiteX4" fmla="*/ 3290316 w 3290316"/>
              <a:gd name="connsiteY4" fmla="*/ 6185532 h 6193766"/>
              <a:gd name="connsiteX5" fmla="*/ 1492453 w 3290316"/>
              <a:gd name="connsiteY5" fmla="*/ 6185532 h 6193766"/>
              <a:gd name="connsiteX6" fmla="*/ 1490472 w 3290316"/>
              <a:gd name="connsiteY6" fmla="*/ 6193766 h 61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0316" h="6193766">
                <a:moveTo>
                  <a:pt x="0" y="0"/>
                </a:moveTo>
                <a:lnTo>
                  <a:pt x="1490472" y="0"/>
                </a:lnTo>
                <a:lnTo>
                  <a:pt x="2980944" y="0"/>
                </a:lnTo>
                <a:lnTo>
                  <a:pt x="3290316" y="0"/>
                </a:lnTo>
                <a:lnTo>
                  <a:pt x="3290316" y="6185532"/>
                </a:lnTo>
                <a:lnTo>
                  <a:pt x="1492453" y="6185532"/>
                </a:lnTo>
                <a:lnTo>
                  <a:pt x="1490472" y="6193766"/>
                </a:lnTo>
                <a:close/>
              </a:path>
            </a:pathLst>
          </a:custGeom>
          <a:solidFill>
            <a:schemeClr val="accent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B6C9F2-5465-8D47-8351-B6B681C45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4426" y="4007404"/>
            <a:ext cx="353642" cy="94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1266FC-2449-334F-9B22-0937AD6B1315}"/>
              </a:ext>
            </a:extLst>
          </p:cNvPr>
          <p:cNvSpPr/>
          <p:nvPr userDrawn="1"/>
        </p:nvSpPr>
        <p:spPr>
          <a:xfrm>
            <a:off x="8530101" y="10026"/>
            <a:ext cx="528175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0E0B867E-4626-0B46-8BD3-B9D962EC3C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68698" y="232253"/>
            <a:ext cx="456123" cy="7167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AC85F6-3026-90A4-9562-336942076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4425" y="2506366"/>
            <a:ext cx="6209402" cy="1371719"/>
          </a:xfrm>
        </p:spPr>
        <p:txBody>
          <a:bodyPr rIns="9144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ECEB0E-880C-6049-9B69-BA2FEE345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234"/>
            <a:ext cx="9144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7C912DB-E11B-3D4C-9D09-221D4E874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024128"/>
            <a:ext cx="8372475" cy="5833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3DBCEB-EA83-B646-A716-9EAB713C52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4226929"/>
            <a:ext cx="3948113" cy="354459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  <a:lvl2pPr>
              <a:defRPr sz="1575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 dirty="0"/>
              <a:t>Insert subtitle if needed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1E94CE-F71B-1944-B826-00353C87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4426" y="4007404"/>
            <a:ext cx="353642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FF968CE-35E2-E543-8D71-1D8778441684}"/>
              </a:ext>
            </a:extLst>
          </p:cNvPr>
          <p:cNvSpPr/>
          <p:nvPr userDrawn="1"/>
        </p:nvSpPr>
        <p:spPr>
          <a:xfrm>
            <a:off x="6535674" y="1024128"/>
            <a:ext cx="1836801" cy="5833872"/>
          </a:xfrm>
          <a:custGeom>
            <a:avLst/>
            <a:gdLst>
              <a:gd name="connsiteX0" fmla="*/ 0 w 3290316"/>
              <a:gd name="connsiteY0" fmla="*/ 0 h 6193766"/>
              <a:gd name="connsiteX1" fmla="*/ 1490472 w 3290316"/>
              <a:gd name="connsiteY1" fmla="*/ 0 h 6193766"/>
              <a:gd name="connsiteX2" fmla="*/ 2980944 w 3290316"/>
              <a:gd name="connsiteY2" fmla="*/ 0 h 6193766"/>
              <a:gd name="connsiteX3" fmla="*/ 3290316 w 3290316"/>
              <a:gd name="connsiteY3" fmla="*/ 0 h 6193766"/>
              <a:gd name="connsiteX4" fmla="*/ 3290316 w 3290316"/>
              <a:gd name="connsiteY4" fmla="*/ 6185532 h 6193766"/>
              <a:gd name="connsiteX5" fmla="*/ 1492453 w 3290316"/>
              <a:gd name="connsiteY5" fmla="*/ 6185532 h 6193766"/>
              <a:gd name="connsiteX6" fmla="*/ 1490472 w 3290316"/>
              <a:gd name="connsiteY6" fmla="*/ 6193766 h 61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0316" h="6193766">
                <a:moveTo>
                  <a:pt x="0" y="0"/>
                </a:moveTo>
                <a:lnTo>
                  <a:pt x="1490472" y="0"/>
                </a:lnTo>
                <a:lnTo>
                  <a:pt x="2980944" y="0"/>
                </a:lnTo>
                <a:lnTo>
                  <a:pt x="3290316" y="0"/>
                </a:lnTo>
                <a:lnTo>
                  <a:pt x="3290316" y="6185532"/>
                </a:lnTo>
                <a:lnTo>
                  <a:pt x="1492453" y="6185532"/>
                </a:lnTo>
                <a:lnTo>
                  <a:pt x="1490472" y="6193766"/>
                </a:lnTo>
                <a:close/>
              </a:path>
            </a:pathLst>
          </a:custGeom>
          <a:solidFill>
            <a:schemeClr val="tx1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743335-BCFE-4F42-9A19-F9110C930604}"/>
              </a:ext>
            </a:extLst>
          </p:cNvPr>
          <p:cNvSpPr/>
          <p:nvPr userDrawn="1"/>
        </p:nvSpPr>
        <p:spPr>
          <a:xfrm>
            <a:off x="8529632" y="4133"/>
            <a:ext cx="528175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9A7CB55A-D1C4-764D-A70A-997226326E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68229" y="226360"/>
            <a:ext cx="456123" cy="7167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D437AD-190F-DCB7-0DCF-A95A515BA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4425" y="2512383"/>
            <a:ext cx="6209402" cy="1371719"/>
          </a:xfrm>
        </p:spPr>
        <p:txBody>
          <a:bodyPr rIns="9144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37571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457200"/>
            <a:ext cx="8001000" cy="1066800"/>
          </a:xfrm>
        </p:spPr>
        <p:txBody>
          <a:bodyPr rIns="91440"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Insert slide title in title or sentence case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6C88A5-C2BF-FF8F-E59C-B03DE98F6E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93040"/>
            <a:ext cx="8001000" cy="193040"/>
          </a:xfrm>
        </p:spPr>
        <p:txBody>
          <a:bodyPr>
            <a:normAutofit/>
          </a:bodyPr>
          <a:lstStyle>
            <a:lvl1pPr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05D359-7029-C74B-8048-D1347E3F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 descr="UW–Madison logo with white text on red background">
            <a:extLst>
              <a:ext uri="{FF2B5EF4-FFF2-40B4-BE49-F238E27FC236}">
                <a16:creationId xmlns:a16="http://schemas.microsoft.com/office/drawing/2014/main" id="{30C90E4E-BFE2-F24A-BEE4-72198F0978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55444" y="2976145"/>
            <a:ext cx="2633112" cy="8858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ABBB3C-A927-ADB6-ED1A-12D504FC7A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82660"/>
            <a:ext cx="8001000" cy="172720"/>
          </a:xfrm>
        </p:spPr>
        <p:txBody>
          <a:bodyPr>
            <a:normAutofit/>
          </a:bodyPr>
          <a:lstStyle>
            <a:lvl1pPr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2583120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05D359-7029-C74B-8048-D1347E3F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 descr="UW–Madison logo with white text on black background">
            <a:extLst>
              <a:ext uri="{FF2B5EF4-FFF2-40B4-BE49-F238E27FC236}">
                <a16:creationId xmlns:a16="http://schemas.microsoft.com/office/drawing/2014/main" id="{5AC3464E-EAD7-2F46-80F6-DC8D4A387F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55444" y="2986084"/>
            <a:ext cx="2633112" cy="8858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36F069-8A4C-ED8B-A2C5-3C3D5DA5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72499"/>
            <a:ext cx="8001000" cy="162560"/>
          </a:xfrm>
        </p:spPr>
        <p:txBody>
          <a:bodyPr>
            <a:normAutofit/>
          </a:bodyPr>
          <a:lstStyle>
            <a:lvl1pPr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2314827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1B1986-83A7-3542-BAD9-60B6AA5AD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0683" y="0"/>
            <a:ext cx="528175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9" name="Picture 8" descr="UW–Madison red crest logo">
            <a:extLst>
              <a:ext uri="{FF2B5EF4-FFF2-40B4-BE49-F238E27FC236}">
                <a16:creationId xmlns:a16="http://schemas.microsoft.com/office/drawing/2014/main" id="{AE3C76A7-671B-A440-9E04-764EF15815E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569280" y="222227"/>
            <a:ext cx="456123" cy="71676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475" y="457200"/>
            <a:ext cx="8001000" cy="1066800"/>
          </a:xfrm>
          <a:prstGeom prst="rect">
            <a:avLst/>
          </a:prstGeom>
        </p:spPr>
        <p:txBody>
          <a:bodyPr vert="horz" lIns="0" tIns="4572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4425" y="1828800"/>
            <a:ext cx="7258050" cy="445770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610"/>
            <a:ext cx="795440" cy="3139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64008" rIns="91440" bIns="64008" rtlCol="0" anchor="ctr">
            <a:spAutoFit/>
          </a:bodyPr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74" r:id="rId4"/>
    <p:sldLayoutId id="2147483663" r:id="rId5"/>
    <p:sldLayoutId id="2147483673" r:id="rId6"/>
    <p:sldLayoutId id="2147483666" r:id="rId7"/>
    <p:sldLayoutId id="2147483667" r:id="rId8"/>
    <p:sldLayoutId id="2147483676" r:id="rId9"/>
    <p:sldLayoutId id="2147483677" r:id="rId10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32160" indent="-13216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90000"/>
        <a:buFont typeface="Arial" panose="020B0604020202020204" pitchFamily="34" charset="0"/>
        <a:buChar char="•"/>
        <a:tabLst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76250" indent="-1333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19150" indent="-1333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57288" indent="-128588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01379" indent="-12977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54" userDrawn="1">
          <p15:clr>
            <a:srgbClr val="F26B43"/>
          </p15:clr>
        </p15:guide>
        <p15:guide id="3" pos="5706" userDrawn="1">
          <p15:clr>
            <a:srgbClr val="F26B43"/>
          </p15:clr>
        </p15:guide>
        <p15:guide id="4" pos="234" userDrawn="1">
          <p15:clr>
            <a:srgbClr val="F26B43"/>
          </p15:clr>
        </p15:guide>
        <p15:guide id="5" pos="5436" userDrawn="1">
          <p15:clr>
            <a:srgbClr val="F26B43"/>
          </p15:clr>
        </p15:guide>
        <p15:guide id="6" orient="horz" pos="4248" userDrawn="1">
          <p15:clr>
            <a:srgbClr val="F26B43"/>
          </p15:clr>
        </p15:guide>
        <p15:guide id="7" orient="horz" pos="288" userDrawn="1">
          <p15:clr>
            <a:srgbClr val="F26B43"/>
          </p15:clr>
        </p15:guide>
        <p15:guide id="8" orient="horz" pos="960" userDrawn="1">
          <p15:clr>
            <a:srgbClr val="F26B43"/>
          </p15:clr>
        </p15:guide>
        <p15:guide id="9" pos="5274" userDrawn="1">
          <p15:clr>
            <a:srgbClr val="F26B43"/>
          </p15:clr>
        </p15:guide>
        <p15:guide id="10" pos="702" userDrawn="1">
          <p15:clr>
            <a:srgbClr val="F26B43"/>
          </p15:clr>
        </p15:guide>
        <p15:guide id="11" orient="horz" pos="1152" userDrawn="1">
          <p15:clr>
            <a:srgbClr val="F26B43"/>
          </p15:clr>
        </p15:guide>
        <p15:guide id="12" orient="horz" pos="3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_rEisLZZIjI&amp;t=1649s" TargetMode="External"/><Relationship Id="rId2" Type="http://schemas.openxmlformats.org/officeDocument/2006/relationships/hyperlink" Target="https://www.cs.columbia.edu/~sedwards/classes/2008/4840/mnl_avalon_spec.pdf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anvas.wisc.edu/courses/435974/files/43757661/download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07DCD4-D3EA-E21A-ED2F-1EEDFD7B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ECE 554: Minilab 1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59FF42-55CD-9E6C-D9BA-3A66739959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Simulation &amp; debugging</a:t>
            </a:r>
          </a:p>
        </p:txBody>
      </p:sp>
    </p:spTree>
    <p:extLst>
      <p:ext uri="{BB962C8B-B14F-4D97-AF65-F5344CB8AC3E}">
        <p14:creationId xmlns:p14="http://schemas.microsoft.com/office/powerpoint/2010/main" val="1894063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3FF59-8D98-7100-D54B-8FC6657B1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C470AC-42D5-64A7-DFD9-432CE0F2A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367" y="2130496"/>
            <a:ext cx="4994031" cy="3881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A29D3A-6502-4E01-6925-CE2E1215E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Minilab 0 - Minilab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257B8-5260-14BF-1B76-1CD58FB493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42915"/>
            <a:ext cx="4727897" cy="350865"/>
          </a:xfrm>
        </p:spPr>
        <p:txBody>
          <a:bodyPr/>
          <a:lstStyle/>
          <a:p>
            <a:r>
              <a:rPr lang="en-US" dirty="0"/>
              <a:t>ECE 554: Digital Engineering Laboratory (Spring 2025)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AA3CCEE1-D30E-F842-6DB9-C878612720CC}"/>
              </a:ext>
            </a:extLst>
          </p:cNvPr>
          <p:cNvSpPr/>
          <p:nvPr/>
        </p:nvSpPr>
        <p:spPr>
          <a:xfrm>
            <a:off x="1527347" y="1939332"/>
            <a:ext cx="2552282" cy="4073162"/>
          </a:xfrm>
          <a:prstGeom prst="arc">
            <a:avLst>
              <a:gd name="adj1" fmla="val 16200000"/>
              <a:gd name="adj2" fmla="val 5516023"/>
            </a:avLst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97F978E2-F331-83F0-CBAB-E05EBA40B846}"/>
              </a:ext>
            </a:extLst>
          </p:cNvPr>
          <p:cNvSpPr/>
          <p:nvPr/>
        </p:nvSpPr>
        <p:spPr>
          <a:xfrm rot="10800000">
            <a:off x="4663375" y="1939332"/>
            <a:ext cx="2552282" cy="4073162"/>
          </a:xfrm>
          <a:prstGeom prst="arc">
            <a:avLst>
              <a:gd name="adj1" fmla="val 16200000"/>
              <a:gd name="adj2" fmla="val 5516023"/>
            </a:avLst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F5DC86-BE48-6BD3-A0C3-955A9E27585B}"/>
              </a:ext>
            </a:extLst>
          </p:cNvPr>
          <p:cNvSpPr txBox="1"/>
          <p:nvPr/>
        </p:nvSpPr>
        <p:spPr>
          <a:xfrm>
            <a:off x="662875" y="3563931"/>
            <a:ext cx="1205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Focus of Minilab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3AA01A-7FCF-8297-6A35-1F822932028C}"/>
              </a:ext>
            </a:extLst>
          </p:cNvPr>
          <p:cNvSpPr txBox="1"/>
          <p:nvPr/>
        </p:nvSpPr>
        <p:spPr>
          <a:xfrm>
            <a:off x="7344403" y="3563930"/>
            <a:ext cx="1205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Focus of Minilab 0</a:t>
            </a:r>
          </a:p>
        </p:txBody>
      </p:sp>
    </p:spTree>
    <p:extLst>
      <p:ext uri="{BB962C8B-B14F-4D97-AF65-F5344CB8AC3E}">
        <p14:creationId xmlns:p14="http://schemas.microsoft.com/office/powerpoint/2010/main" val="2605818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88449-DBD6-6C78-ED96-B8E471535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90A3D-A50E-A07B-17A8-75F748394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Design validation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28F6E-3EBA-7FA9-EF73-2C24C1DF83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42915"/>
            <a:ext cx="4727897" cy="350865"/>
          </a:xfrm>
        </p:spPr>
        <p:txBody>
          <a:bodyPr/>
          <a:lstStyle/>
          <a:p>
            <a:r>
              <a:rPr lang="en-US" dirty="0"/>
              <a:t>ECE 554: Digital Engineering Laboratory (Spring 2025)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8073AEB3-586D-A41E-4A5F-23C4DE19F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682" y="1884905"/>
            <a:ext cx="8430881" cy="3070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360" tIns="44280" rIns="90360" bIns="44280"/>
          <a:lstStyle>
            <a:lvl1pPr marL="339725" indent="-33972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39775" indent="-28257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eaLnBrk="1" hangingPunct="1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 and debug at several steps in the process</a:t>
            </a:r>
            <a:r>
              <a:rPr lang="ar-SA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‏</a:t>
            </a:r>
            <a:endParaRPr lang="en-US" alt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eaLnBrk="1" hangingPunct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 architecture level - functional simulation of HDL.</a:t>
            </a:r>
          </a:p>
          <a:p>
            <a:pPr marL="800100" lvl="1" indent="-342900" eaLnBrk="1" hangingPunct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 RTL level - functional simulation of RTL HDL.</a:t>
            </a:r>
          </a:p>
          <a:p>
            <a:pPr marL="800100" lvl="1" indent="-342900" eaLnBrk="1" hangingPunct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 logic design or synthesis - functional simulation of gate-level circuit.</a:t>
            </a:r>
          </a:p>
          <a:p>
            <a:pPr marL="800100" lvl="1" indent="-342900" eaLnBrk="1" hangingPunct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 implementation - timing simulation of schematic, netlist or HDL  with implementation-based timing information (functional simulation can also be useful here)</a:t>
            </a:r>
            <a:r>
              <a:rPr lang="ar-SA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‏</a:t>
            </a:r>
            <a:r>
              <a:rPr lang="en-US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lvl="1" indent="0" eaLnBrk="1" hangingPunct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</a:pPr>
            <a:endParaRPr lang="en-US" alt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eaLnBrk="1" hangingPunct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 programmed FPGA level - in-circuit test of function and timing.</a:t>
            </a:r>
          </a:p>
          <a:p>
            <a:pPr marL="457200" lvl="1" indent="0" eaLnBrk="1" hangingPunct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</a:pPr>
            <a:endParaRPr lang="en-US" altLang="en-US" sz="2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5CED48F7-04FE-4EF2-E445-E30D73E5131B}"/>
              </a:ext>
            </a:extLst>
          </p:cNvPr>
          <p:cNvSpPr/>
          <p:nvPr/>
        </p:nvSpPr>
        <p:spPr>
          <a:xfrm>
            <a:off x="932397" y="2614022"/>
            <a:ext cx="117372" cy="15359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02F5B2-029E-F3EC-C5C4-564C242C94E4}"/>
              </a:ext>
            </a:extLst>
          </p:cNvPr>
          <p:cNvSpPr txBox="1"/>
          <p:nvPr/>
        </p:nvSpPr>
        <p:spPr>
          <a:xfrm>
            <a:off x="23719" y="3100253"/>
            <a:ext cx="928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Minilab 1 </a:t>
            </a:r>
          </a:p>
          <a:p>
            <a:pPr algn="ctr"/>
            <a:r>
              <a:rPr lang="en-US" sz="1400" b="1" dirty="0">
                <a:solidFill>
                  <a:schemeClr val="accent1"/>
                </a:solidFill>
              </a:rPr>
              <a:t>Part 1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41503B46-CAAE-7B8C-27AC-D336C5C1C5FD}"/>
              </a:ext>
            </a:extLst>
          </p:cNvPr>
          <p:cNvSpPr/>
          <p:nvPr/>
        </p:nvSpPr>
        <p:spPr>
          <a:xfrm>
            <a:off x="932397" y="4523779"/>
            <a:ext cx="117372" cy="35530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E07B39-08C5-218D-CAD2-32598652B042}"/>
              </a:ext>
            </a:extLst>
          </p:cNvPr>
          <p:cNvSpPr txBox="1"/>
          <p:nvPr/>
        </p:nvSpPr>
        <p:spPr>
          <a:xfrm>
            <a:off x="0" y="4439823"/>
            <a:ext cx="928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Minilab 1 </a:t>
            </a:r>
          </a:p>
          <a:p>
            <a:pPr algn="ctr"/>
            <a:r>
              <a:rPr lang="en-US" sz="1400" b="1" dirty="0">
                <a:solidFill>
                  <a:schemeClr val="accent1"/>
                </a:solidFill>
              </a:rPr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3538814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A43A2-E244-742F-964E-06664718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302F-3F79-EC71-E254-F215AC98B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Example design: matrix-vector multiplication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0E706-9CBD-D859-3A94-D423D4D2E3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42915"/>
            <a:ext cx="4727897" cy="350865"/>
          </a:xfrm>
        </p:spPr>
        <p:txBody>
          <a:bodyPr/>
          <a:lstStyle/>
          <a:p>
            <a:r>
              <a:rPr lang="en-US" dirty="0"/>
              <a:t>ECE 554: Digital Engineering Laboratory (Spring 2025)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251E1BB-19E5-49A5-A0F1-DA3BF11DC18E}"/>
              </a:ext>
            </a:extLst>
          </p:cNvPr>
          <p:cNvGrpSpPr/>
          <p:nvPr/>
        </p:nvGrpSpPr>
        <p:grpSpPr>
          <a:xfrm>
            <a:off x="473828" y="1814920"/>
            <a:ext cx="4340160" cy="1206216"/>
            <a:chOff x="1878493" y="5119898"/>
            <a:chExt cx="5194098" cy="1593162"/>
          </a:xfrm>
        </p:grpSpPr>
        <p:sp>
          <p:nvSpPr>
            <p:cNvPr id="171" name="TextBox 3">
              <a:extLst>
                <a:ext uri="{FF2B5EF4-FFF2-40B4-BE49-F238E27FC236}">
                  <a16:creationId xmlns:a16="http://schemas.microsoft.com/office/drawing/2014/main" id="{7B2A6F45-6E89-401D-9881-67A4D5FCACBC}"/>
                </a:ext>
              </a:extLst>
            </p:cNvPr>
            <p:cNvSpPr txBox="1"/>
            <p:nvPr/>
          </p:nvSpPr>
          <p:spPr>
            <a:xfrm>
              <a:off x="1910759" y="5119898"/>
              <a:ext cx="2331237" cy="1585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GB"/>
              </a:defPPr>
              <a:lvl1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a00 a01 a02 a03 a04 a05 a06 a07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a10 a11 a12 a13 a14 a15 a16 a17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a20 a21 a22 a23 a24 a25 a26 a27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a30 a31 a32 a33 a34 a35 a36 a37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a40 a41 a42 a43 a44 a45 a46 a47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a50 a51 a52 a53 a54 a55 a56 a57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a60 a61 a62 a63 a64 a65 a66 a67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a70 a71 a72 a73 a74 a75 a76 a77</a:t>
              </a:r>
            </a:p>
          </p:txBody>
        </p:sp>
        <p:sp>
          <p:nvSpPr>
            <p:cNvPr id="172" name="TextBox 4">
              <a:extLst>
                <a:ext uri="{FF2B5EF4-FFF2-40B4-BE49-F238E27FC236}">
                  <a16:creationId xmlns:a16="http://schemas.microsoft.com/office/drawing/2014/main" id="{15CFE409-E838-465C-A18C-AED1FB443E3A}"/>
                </a:ext>
              </a:extLst>
            </p:cNvPr>
            <p:cNvSpPr txBox="1"/>
            <p:nvPr/>
          </p:nvSpPr>
          <p:spPr>
            <a:xfrm>
              <a:off x="4742591" y="5119898"/>
              <a:ext cx="549581" cy="1585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GB"/>
              </a:defPPr>
              <a:lvl1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  <a:latin typeface="Arial" panose="020B0604020202020204" pitchFamily="34" charset="0"/>
                </a:rPr>
                <a:t>b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00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  <a:latin typeface="Arial" panose="020B0604020202020204" pitchFamily="34" charset="0"/>
                </a:rPr>
                <a:t>b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01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  <a:latin typeface="Arial" panose="020B0604020202020204" pitchFamily="34" charset="0"/>
                </a:rPr>
                <a:t>b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02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  <a:latin typeface="Arial" panose="020B0604020202020204" pitchFamily="34" charset="0"/>
                </a:rPr>
                <a:t>b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03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  <a:latin typeface="Arial" panose="020B0604020202020204" pitchFamily="34" charset="0"/>
                </a:rPr>
                <a:t>b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04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  <a:latin typeface="Arial" panose="020B0604020202020204" pitchFamily="34" charset="0"/>
                </a:rPr>
                <a:t>b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05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  <a:latin typeface="Arial" panose="020B0604020202020204" pitchFamily="34" charset="0"/>
                </a:rPr>
                <a:t>b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06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b07</a:t>
              </a:r>
            </a:p>
          </p:txBody>
        </p:sp>
        <p:sp>
          <p:nvSpPr>
            <p:cNvPr id="173" name="TextBox 5">
              <a:extLst>
                <a:ext uri="{FF2B5EF4-FFF2-40B4-BE49-F238E27FC236}">
                  <a16:creationId xmlns:a16="http://schemas.microsoft.com/office/drawing/2014/main" id="{3A9E83C9-E6E5-49DD-BD49-2F82CF3D2F71}"/>
                </a:ext>
              </a:extLst>
            </p:cNvPr>
            <p:cNvSpPr txBox="1"/>
            <p:nvPr/>
          </p:nvSpPr>
          <p:spPr>
            <a:xfrm>
              <a:off x="6576035" y="5127674"/>
              <a:ext cx="443533" cy="1585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GB"/>
              </a:defPPr>
              <a:lvl1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  <a:latin typeface="Arial" panose="020B0604020202020204" pitchFamily="34" charset="0"/>
                </a:rPr>
                <a:t>c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00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  <a:latin typeface="Arial" panose="020B0604020202020204" pitchFamily="34" charset="0"/>
                </a:rPr>
                <a:t>c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01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  <a:latin typeface="Arial" panose="020B0604020202020204" pitchFamily="34" charset="0"/>
                </a:rPr>
                <a:t>c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02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  <a:latin typeface="Arial" panose="020B0604020202020204" pitchFamily="34" charset="0"/>
                </a:rPr>
                <a:t>c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03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  <a:latin typeface="Arial" panose="020B0604020202020204" pitchFamily="34" charset="0"/>
                </a:rPr>
                <a:t>c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04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  <a:latin typeface="Arial" panose="020B0604020202020204" pitchFamily="34" charset="0"/>
                </a:rPr>
                <a:t>c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05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prstClr val="black"/>
                  </a:solidFill>
                  <a:latin typeface="Arial" panose="020B0604020202020204" pitchFamily="34" charset="0"/>
                </a:rPr>
                <a:t>c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06</a:t>
              </a:r>
            </a:p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c07</a:t>
              </a:r>
            </a:p>
          </p:txBody>
        </p:sp>
        <p:sp>
          <p:nvSpPr>
            <p:cNvPr id="174" name="Left Bracket 173">
              <a:extLst>
                <a:ext uri="{FF2B5EF4-FFF2-40B4-BE49-F238E27FC236}">
                  <a16:creationId xmlns:a16="http://schemas.microsoft.com/office/drawing/2014/main" id="{67B5E62A-0DCD-4DDE-A83F-73E591F933C1}"/>
                </a:ext>
              </a:extLst>
            </p:cNvPr>
            <p:cNvSpPr/>
            <p:nvPr/>
          </p:nvSpPr>
          <p:spPr>
            <a:xfrm>
              <a:off x="1878493" y="5119898"/>
              <a:ext cx="230091" cy="1569660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GB"/>
              </a:defPPr>
              <a:lvl1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5" name="Left Bracket 174">
              <a:extLst>
                <a:ext uri="{FF2B5EF4-FFF2-40B4-BE49-F238E27FC236}">
                  <a16:creationId xmlns:a16="http://schemas.microsoft.com/office/drawing/2014/main" id="{6093D06F-B99B-47C8-BFA3-10C75E0B4D8F}"/>
                </a:ext>
              </a:extLst>
            </p:cNvPr>
            <p:cNvSpPr/>
            <p:nvPr/>
          </p:nvSpPr>
          <p:spPr>
            <a:xfrm>
              <a:off x="4690054" y="5119898"/>
              <a:ext cx="230091" cy="1569660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GB"/>
              </a:defPPr>
              <a:lvl1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6" name="Left Bracket 175">
              <a:extLst>
                <a:ext uri="{FF2B5EF4-FFF2-40B4-BE49-F238E27FC236}">
                  <a16:creationId xmlns:a16="http://schemas.microsoft.com/office/drawing/2014/main" id="{262F4264-9732-4A17-A5FE-7DD211607BCB}"/>
                </a:ext>
              </a:extLst>
            </p:cNvPr>
            <p:cNvSpPr/>
            <p:nvPr/>
          </p:nvSpPr>
          <p:spPr>
            <a:xfrm>
              <a:off x="6532980" y="5119898"/>
              <a:ext cx="230091" cy="1585386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GB"/>
              </a:defPPr>
              <a:lvl1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7" name="Left Bracket 176">
              <a:extLst>
                <a:ext uri="{FF2B5EF4-FFF2-40B4-BE49-F238E27FC236}">
                  <a16:creationId xmlns:a16="http://schemas.microsoft.com/office/drawing/2014/main" id="{2F37EB88-E5BA-42DA-A3AD-F1EE2C2752D0}"/>
                </a:ext>
              </a:extLst>
            </p:cNvPr>
            <p:cNvSpPr/>
            <p:nvPr/>
          </p:nvSpPr>
          <p:spPr>
            <a:xfrm flipH="1">
              <a:off x="3929512" y="5135940"/>
              <a:ext cx="230091" cy="1569660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GB"/>
              </a:defPPr>
              <a:lvl1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8" name="Left Bracket 177">
              <a:extLst>
                <a:ext uri="{FF2B5EF4-FFF2-40B4-BE49-F238E27FC236}">
                  <a16:creationId xmlns:a16="http://schemas.microsoft.com/office/drawing/2014/main" id="{DB47A4AE-53AE-4106-8FFE-5266C42EC6C8}"/>
                </a:ext>
              </a:extLst>
            </p:cNvPr>
            <p:cNvSpPr/>
            <p:nvPr/>
          </p:nvSpPr>
          <p:spPr>
            <a:xfrm flipH="1">
              <a:off x="5017383" y="5119898"/>
              <a:ext cx="230091" cy="1569660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GB"/>
              </a:defPPr>
              <a:lvl1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9" name="Left Bracket 178">
              <a:extLst>
                <a:ext uri="{FF2B5EF4-FFF2-40B4-BE49-F238E27FC236}">
                  <a16:creationId xmlns:a16="http://schemas.microsoft.com/office/drawing/2014/main" id="{4481BEF9-38A8-4AAC-A538-F54D68D4E3E1}"/>
                </a:ext>
              </a:extLst>
            </p:cNvPr>
            <p:cNvSpPr/>
            <p:nvPr/>
          </p:nvSpPr>
          <p:spPr>
            <a:xfrm flipH="1">
              <a:off x="6842500" y="5119898"/>
              <a:ext cx="230091" cy="1587584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GB"/>
              </a:defPPr>
              <a:lvl1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0" name="Multiplication Sign 179">
              <a:extLst>
                <a:ext uri="{FF2B5EF4-FFF2-40B4-BE49-F238E27FC236}">
                  <a16:creationId xmlns:a16="http://schemas.microsoft.com/office/drawing/2014/main" id="{AF5536CC-3CED-4907-851D-A973889AA20B}"/>
                </a:ext>
              </a:extLst>
            </p:cNvPr>
            <p:cNvSpPr/>
            <p:nvPr/>
          </p:nvSpPr>
          <p:spPr>
            <a:xfrm>
              <a:off x="4158129" y="5607949"/>
              <a:ext cx="533400" cy="53340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GB"/>
              </a:defPPr>
              <a:lvl1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1" name="Plus Sign 180">
              <a:extLst>
                <a:ext uri="{FF2B5EF4-FFF2-40B4-BE49-F238E27FC236}">
                  <a16:creationId xmlns:a16="http://schemas.microsoft.com/office/drawing/2014/main" id="{556B00CB-78E8-493C-8F34-AD4BD079832A}"/>
                </a:ext>
              </a:extLst>
            </p:cNvPr>
            <p:cNvSpPr/>
            <p:nvPr/>
          </p:nvSpPr>
          <p:spPr>
            <a:xfrm>
              <a:off x="5433027" y="5587213"/>
              <a:ext cx="457200" cy="457200"/>
            </a:xfrm>
            <a:prstGeom prst="math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GB"/>
              </a:defPPr>
              <a:lvl1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2" name="Equals 181">
              <a:extLst>
                <a:ext uri="{FF2B5EF4-FFF2-40B4-BE49-F238E27FC236}">
                  <a16:creationId xmlns:a16="http://schemas.microsoft.com/office/drawing/2014/main" id="{7FADD3D3-07FD-40E1-9A73-BB1EAC9C3269}"/>
                </a:ext>
              </a:extLst>
            </p:cNvPr>
            <p:cNvSpPr/>
            <p:nvPr/>
          </p:nvSpPr>
          <p:spPr>
            <a:xfrm>
              <a:off x="5838312" y="5587213"/>
              <a:ext cx="476482" cy="473242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GB"/>
              </a:defPPr>
              <a:lvl1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A6900D65-0762-C5B5-D281-87981942DBDA}"/>
              </a:ext>
            </a:extLst>
          </p:cNvPr>
          <p:cNvGrpSpPr/>
          <p:nvPr/>
        </p:nvGrpSpPr>
        <p:grpSpPr>
          <a:xfrm>
            <a:off x="2786067" y="1963350"/>
            <a:ext cx="6087729" cy="4141242"/>
            <a:chOff x="2726894" y="1827066"/>
            <a:chExt cx="6087729" cy="414124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511FA7E-44D1-F314-8DDD-7FC9D025BA0C}"/>
                </a:ext>
              </a:extLst>
            </p:cNvPr>
            <p:cNvGrpSpPr/>
            <p:nvPr/>
          </p:nvGrpSpPr>
          <p:grpSpPr>
            <a:xfrm>
              <a:off x="6015712" y="3614076"/>
              <a:ext cx="372415" cy="1675184"/>
              <a:chOff x="5676180" y="1524000"/>
              <a:chExt cx="276046" cy="1886312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1C2BC36-4EC8-2E28-E480-E6E7CC878E4C}"/>
                  </a:ext>
                </a:extLst>
              </p:cNvPr>
              <p:cNvSpPr/>
              <p:nvPr/>
            </p:nvSpPr>
            <p:spPr>
              <a:xfrm>
                <a:off x="5676180" y="1524000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a07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03DF580-43B9-ED99-98CB-4033BDCEB8C2}"/>
                  </a:ext>
                </a:extLst>
              </p:cNvPr>
              <p:cNvSpPr/>
              <p:nvPr/>
            </p:nvSpPr>
            <p:spPr>
              <a:xfrm>
                <a:off x="5676180" y="1759789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a06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268D565-2774-720A-EF03-90F6B80D27E3}"/>
                  </a:ext>
                </a:extLst>
              </p:cNvPr>
              <p:cNvSpPr/>
              <p:nvPr/>
            </p:nvSpPr>
            <p:spPr>
              <a:xfrm>
                <a:off x="5676180" y="1995578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a05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014150-4414-8C2A-BFC6-EEBD63154DD2}"/>
                  </a:ext>
                </a:extLst>
              </p:cNvPr>
              <p:cNvSpPr/>
              <p:nvPr/>
            </p:nvSpPr>
            <p:spPr>
              <a:xfrm>
                <a:off x="5676180" y="2231367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a04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12FB95A-2FF7-8B45-784D-50B8B49710E8}"/>
                  </a:ext>
                </a:extLst>
              </p:cNvPr>
              <p:cNvSpPr/>
              <p:nvPr/>
            </p:nvSpPr>
            <p:spPr>
              <a:xfrm>
                <a:off x="5676180" y="2467156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a03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47F4AB7-2A88-55D5-8AF5-5785AECC39A3}"/>
                  </a:ext>
                </a:extLst>
              </p:cNvPr>
              <p:cNvSpPr/>
              <p:nvPr/>
            </p:nvSpPr>
            <p:spPr>
              <a:xfrm>
                <a:off x="5676180" y="2702945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a02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DE2D35C-CE1C-FD4F-07AC-FB0C2E9B0AD6}"/>
                  </a:ext>
                </a:extLst>
              </p:cNvPr>
              <p:cNvSpPr/>
              <p:nvPr/>
            </p:nvSpPr>
            <p:spPr>
              <a:xfrm>
                <a:off x="5676180" y="2938734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a01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5F761AD-6710-D456-46AF-BDF1EFDAF6AC}"/>
                  </a:ext>
                </a:extLst>
              </p:cNvPr>
              <p:cNvSpPr/>
              <p:nvPr/>
            </p:nvSpPr>
            <p:spPr>
              <a:xfrm>
                <a:off x="5676180" y="3174523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a00</a:t>
                </a: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3D8A483-2062-7985-D861-602B61297015}"/>
                </a:ext>
              </a:extLst>
            </p:cNvPr>
            <p:cNvGrpSpPr/>
            <p:nvPr/>
          </p:nvGrpSpPr>
          <p:grpSpPr>
            <a:xfrm>
              <a:off x="7644134" y="3715780"/>
              <a:ext cx="638237" cy="527589"/>
              <a:chOff x="7518097" y="2699855"/>
              <a:chExt cx="480049" cy="408041"/>
            </a:xfrm>
          </p:grpSpPr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8DE9456-13B1-BB17-5EC5-E10F90EDAA96}"/>
                  </a:ext>
                </a:extLst>
              </p:cNvPr>
              <p:cNvSpPr txBox="1"/>
              <p:nvPr/>
            </p:nvSpPr>
            <p:spPr>
              <a:xfrm>
                <a:off x="7678425" y="2824752"/>
                <a:ext cx="159393" cy="1666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dirty="0"/>
                  <a:t>.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21E457D-EADD-4CD3-98A7-DA81E6686349}"/>
                  </a:ext>
                </a:extLst>
              </p:cNvPr>
              <p:cNvSpPr txBox="1"/>
              <p:nvPr/>
            </p:nvSpPr>
            <p:spPr>
              <a:xfrm>
                <a:off x="7838753" y="2699855"/>
                <a:ext cx="159393" cy="1666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dirty="0"/>
                  <a:t>.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F00F9E3-7FB2-AFD8-A33A-9345B9CA5193}"/>
                  </a:ext>
                </a:extLst>
              </p:cNvPr>
              <p:cNvSpPr txBox="1"/>
              <p:nvPr/>
            </p:nvSpPr>
            <p:spPr>
              <a:xfrm>
                <a:off x="7518097" y="2941270"/>
                <a:ext cx="159393" cy="1666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dirty="0"/>
                  <a:t>.</a:t>
                </a:r>
              </a:p>
            </p:txBody>
          </p:sp>
        </p:grpSp>
        <p:sp>
          <p:nvSpPr>
            <p:cNvPr id="97" name="Flowchart: Alternate Process 96">
              <a:extLst>
                <a:ext uri="{FF2B5EF4-FFF2-40B4-BE49-F238E27FC236}">
                  <a16:creationId xmlns:a16="http://schemas.microsoft.com/office/drawing/2014/main" id="{03955372-DB27-9AC5-4C46-69C6BEC89C03}"/>
                </a:ext>
              </a:extLst>
            </p:cNvPr>
            <p:cNvSpPr/>
            <p:nvPr/>
          </p:nvSpPr>
          <p:spPr>
            <a:xfrm>
              <a:off x="6017423" y="5758908"/>
              <a:ext cx="364467" cy="209400"/>
            </a:xfrm>
            <a:prstGeom prst="flowChartAlternateProcess">
              <a:avLst/>
            </a:prstGeom>
            <a:solidFill>
              <a:schemeClr val="accent4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c00</a:t>
              </a:r>
            </a:p>
          </p:txBody>
        </p:sp>
        <p:sp>
          <p:nvSpPr>
            <p:cNvPr id="98" name="Flowchart: Alternate Process 97">
              <a:extLst>
                <a:ext uri="{FF2B5EF4-FFF2-40B4-BE49-F238E27FC236}">
                  <a16:creationId xmlns:a16="http://schemas.microsoft.com/office/drawing/2014/main" id="{4586A394-D8DD-7BEA-6C30-27BA937B70BA}"/>
                </a:ext>
              </a:extLst>
            </p:cNvPr>
            <p:cNvSpPr/>
            <p:nvPr/>
          </p:nvSpPr>
          <p:spPr>
            <a:xfrm>
              <a:off x="6562749" y="5758905"/>
              <a:ext cx="364467" cy="209400"/>
            </a:xfrm>
            <a:prstGeom prst="flowChartAlternateProcess">
              <a:avLst/>
            </a:prstGeom>
            <a:solidFill>
              <a:schemeClr val="accent4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c01</a:t>
              </a:r>
            </a:p>
          </p:txBody>
        </p:sp>
        <p:sp>
          <p:nvSpPr>
            <p:cNvPr id="99" name="Flowchart: Alternate Process 98">
              <a:extLst>
                <a:ext uri="{FF2B5EF4-FFF2-40B4-BE49-F238E27FC236}">
                  <a16:creationId xmlns:a16="http://schemas.microsoft.com/office/drawing/2014/main" id="{C8D6B2F6-0FBF-8622-344B-881489B13DB9}"/>
                </a:ext>
              </a:extLst>
            </p:cNvPr>
            <p:cNvSpPr/>
            <p:nvPr/>
          </p:nvSpPr>
          <p:spPr>
            <a:xfrm>
              <a:off x="7107738" y="5758908"/>
              <a:ext cx="364467" cy="209400"/>
            </a:xfrm>
            <a:prstGeom prst="flowChartAlternateProcess">
              <a:avLst/>
            </a:prstGeom>
            <a:solidFill>
              <a:schemeClr val="accent4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c02</a:t>
              </a:r>
            </a:p>
          </p:txBody>
        </p:sp>
        <p:sp>
          <p:nvSpPr>
            <p:cNvPr id="100" name="Flowchart: Alternate Process 99">
              <a:extLst>
                <a:ext uri="{FF2B5EF4-FFF2-40B4-BE49-F238E27FC236}">
                  <a16:creationId xmlns:a16="http://schemas.microsoft.com/office/drawing/2014/main" id="{66AB3A14-40FA-EF82-2D67-CF1F38303AFD}"/>
                </a:ext>
              </a:extLst>
            </p:cNvPr>
            <p:cNvSpPr/>
            <p:nvPr/>
          </p:nvSpPr>
          <p:spPr>
            <a:xfrm>
              <a:off x="8450156" y="5758908"/>
              <a:ext cx="364467" cy="209400"/>
            </a:xfrm>
            <a:prstGeom prst="flowChartAlternateProcess">
              <a:avLst/>
            </a:prstGeom>
            <a:solidFill>
              <a:schemeClr val="accent4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c07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34368BD6-438D-5CB8-EE90-CF16DD02EB9B}"/>
                </a:ext>
              </a:extLst>
            </p:cNvPr>
            <p:cNvSpPr txBox="1"/>
            <p:nvPr/>
          </p:nvSpPr>
          <p:spPr>
            <a:xfrm>
              <a:off x="7726978" y="5752860"/>
              <a:ext cx="5172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.     .     .</a:t>
              </a:r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52796412-CCD8-DD23-D919-76D50D62A58E}"/>
                </a:ext>
              </a:extLst>
            </p:cNvPr>
            <p:cNvCxnSpPr>
              <a:stCxn id="20" idx="2"/>
              <a:endCxn id="97" idx="0"/>
            </p:cNvCxnSpPr>
            <p:nvPr/>
          </p:nvCxnSpPr>
          <p:spPr>
            <a:xfrm flipH="1">
              <a:off x="6199657" y="5289260"/>
              <a:ext cx="2263" cy="4696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89BDEF47-5FBC-EBA4-FC5E-299F91A63463}"/>
                </a:ext>
              </a:extLst>
            </p:cNvPr>
            <p:cNvCxnSpPr>
              <a:cxnSpLocks/>
              <a:stCxn id="204" idx="2"/>
              <a:endCxn id="98" idx="0"/>
            </p:cNvCxnSpPr>
            <p:nvPr/>
          </p:nvCxnSpPr>
          <p:spPr>
            <a:xfrm>
              <a:off x="6743138" y="5080961"/>
              <a:ext cx="1845" cy="6779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34878CF1-8BCF-C532-52CC-96B0A449D10D}"/>
                </a:ext>
              </a:extLst>
            </p:cNvPr>
            <p:cNvCxnSpPr>
              <a:cxnSpLocks/>
              <a:stCxn id="214" idx="2"/>
              <a:endCxn id="99" idx="0"/>
            </p:cNvCxnSpPr>
            <p:nvPr/>
          </p:nvCxnSpPr>
          <p:spPr>
            <a:xfrm flipH="1">
              <a:off x="7289972" y="4865517"/>
              <a:ext cx="2639" cy="8933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FA37B8B4-D3E0-C5B6-B96F-194F006E63C8}"/>
                </a:ext>
              </a:extLst>
            </p:cNvPr>
            <p:cNvCxnSpPr>
              <a:cxnSpLocks/>
              <a:stCxn id="224" idx="2"/>
              <a:endCxn id="100" idx="0"/>
            </p:cNvCxnSpPr>
            <p:nvPr/>
          </p:nvCxnSpPr>
          <p:spPr>
            <a:xfrm>
              <a:off x="8626750" y="3823474"/>
              <a:ext cx="5640" cy="19354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0D1A545A-981C-390B-8592-8C44B70E2362}"/>
                </a:ext>
              </a:extLst>
            </p:cNvPr>
            <p:cNvCxnSpPr>
              <a:stCxn id="97" idx="3"/>
              <a:endCxn id="98" idx="1"/>
            </p:cNvCxnSpPr>
            <p:nvPr/>
          </p:nvCxnSpPr>
          <p:spPr>
            <a:xfrm flipV="1">
              <a:off x="6381890" y="5863605"/>
              <a:ext cx="180859" cy="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63562C21-28BF-E8FB-4F53-1B3AF3D35B57}"/>
                </a:ext>
              </a:extLst>
            </p:cNvPr>
            <p:cNvCxnSpPr>
              <a:stCxn id="98" idx="3"/>
              <a:endCxn id="99" idx="1"/>
            </p:cNvCxnSpPr>
            <p:nvPr/>
          </p:nvCxnSpPr>
          <p:spPr>
            <a:xfrm>
              <a:off x="6927216" y="5863605"/>
              <a:ext cx="180522" cy="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5A956134-BE6C-2F8D-1EB6-9F734CBB2657}"/>
                </a:ext>
              </a:extLst>
            </p:cNvPr>
            <p:cNvCxnSpPr>
              <a:cxnSpLocks/>
              <a:stCxn id="99" idx="3"/>
              <a:endCxn id="101" idx="1"/>
            </p:cNvCxnSpPr>
            <p:nvPr/>
          </p:nvCxnSpPr>
          <p:spPr>
            <a:xfrm flipV="1">
              <a:off x="7472205" y="5860582"/>
              <a:ext cx="254773" cy="30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8C2ABC1E-777F-E131-CD64-8F28128E6749}"/>
                </a:ext>
              </a:extLst>
            </p:cNvPr>
            <p:cNvCxnSpPr>
              <a:cxnSpLocks/>
              <a:stCxn id="101" idx="3"/>
              <a:endCxn id="100" idx="1"/>
            </p:cNvCxnSpPr>
            <p:nvPr/>
          </p:nvCxnSpPr>
          <p:spPr>
            <a:xfrm>
              <a:off x="8244208" y="5860582"/>
              <a:ext cx="205948" cy="30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BF6957B7-CF81-635D-31BD-A3A34DC884C8}"/>
                </a:ext>
              </a:extLst>
            </p:cNvPr>
            <p:cNvGrpSpPr/>
            <p:nvPr/>
          </p:nvGrpSpPr>
          <p:grpSpPr>
            <a:xfrm>
              <a:off x="5990465" y="1827066"/>
              <a:ext cx="1098185" cy="800827"/>
              <a:chOff x="6180324" y="5664176"/>
              <a:chExt cx="1098185" cy="800827"/>
            </a:xfrm>
          </p:grpSpPr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BF8CECA1-2F15-43BB-2328-D28FE1A123E8}"/>
                  </a:ext>
                </a:extLst>
              </p:cNvPr>
              <p:cNvSpPr/>
              <p:nvPr/>
            </p:nvSpPr>
            <p:spPr>
              <a:xfrm>
                <a:off x="6275836" y="5942193"/>
                <a:ext cx="270431" cy="158702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4" name="Flowchart: Alternate Process 183">
                <a:extLst>
                  <a:ext uri="{FF2B5EF4-FFF2-40B4-BE49-F238E27FC236}">
                    <a16:creationId xmlns:a16="http://schemas.microsoft.com/office/drawing/2014/main" id="{97534927-B8BA-EA74-16B4-0662676FF10E}"/>
                  </a:ext>
                </a:extLst>
              </p:cNvPr>
              <p:cNvSpPr/>
              <p:nvPr/>
            </p:nvSpPr>
            <p:spPr>
              <a:xfrm>
                <a:off x="6278264" y="6239645"/>
                <a:ext cx="270432" cy="158707"/>
              </a:xfrm>
              <a:prstGeom prst="flowChartAlternateProcess">
                <a:avLst/>
              </a:prstGeom>
              <a:solidFill>
                <a:schemeClr val="accent4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6A4FA945-1A9F-7FDA-CD4A-8BB8E91A3AF0}"/>
                  </a:ext>
                </a:extLst>
              </p:cNvPr>
              <p:cNvSpPr txBox="1"/>
              <p:nvPr/>
            </p:nvSpPr>
            <p:spPr>
              <a:xfrm>
                <a:off x="6180324" y="5664176"/>
                <a:ext cx="64633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LEGEND:</a:t>
                </a: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20ED8D90-1114-104A-F1B1-1E78CD92E485}"/>
                  </a:ext>
                </a:extLst>
              </p:cNvPr>
              <p:cNvSpPr txBox="1"/>
              <p:nvPr/>
            </p:nvSpPr>
            <p:spPr>
              <a:xfrm>
                <a:off x="6581257" y="6218782"/>
                <a:ext cx="43633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MAC</a:t>
                </a:r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AE3C3FB5-F429-8526-B969-1AF2D3ABD900}"/>
                  </a:ext>
                </a:extLst>
              </p:cNvPr>
              <p:cNvSpPr txBox="1"/>
              <p:nvPr/>
            </p:nvSpPr>
            <p:spPr>
              <a:xfrm>
                <a:off x="6553631" y="5896336"/>
                <a:ext cx="7248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FIFO Entry</a:t>
                </a:r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0E6DF4FF-5AAD-1947-D406-A0D68E9B4F9A}"/>
                </a:ext>
              </a:extLst>
            </p:cNvPr>
            <p:cNvGrpSpPr/>
            <p:nvPr/>
          </p:nvGrpSpPr>
          <p:grpSpPr>
            <a:xfrm>
              <a:off x="6556930" y="3405777"/>
              <a:ext cx="372415" cy="1675184"/>
              <a:chOff x="5676180" y="1524000"/>
              <a:chExt cx="276046" cy="1886312"/>
            </a:xfrm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B12B1836-B1BC-A382-8CC6-53E006D20B32}"/>
                  </a:ext>
                </a:extLst>
              </p:cNvPr>
              <p:cNvSpPr/>
              <p:nvPr/>
            </p:nvSpPr>
            <p:spPr>
              <a:xfrm>
                <a:off x="5676180" y="1524000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a17</a:t>
                </a: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6CE8BDCE-3598-9053-35B8-048356B08E8C}"/>
                  </a:ext>
                </a:extLst>
              </p:cNvPr>
              <p:cNvSpPr/>
              <p:nvPr/>
            </p:nvSpPr>
            <p:spPr>
              <a:xfrm>
                <a:off x="5676180" y="1759789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a16</a:t>
                </a: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2C36A775-7D03-AE3C-5915-5E3459989351}"/>
                  </a:ext>
                </a:extLst>
              </p:cNvPr>
              <p:cNvSpPr/>
              <p:nvPr/>
            </p:nvSpPr>
            <p:spPr>
              <a:xfrm>
                <a:off x="5676180" y="1995578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a15</a:t>
                </a: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ABFC8553-6243-C8CB-F2B2-1493C9314E4B}"/>
                  </a:ext>
                </a:extLst>
              </p:cNvPr>
              <p:cNvSpPr/>
              <p:nvPr/>
            </p:nvSpPr>
            <p:spPr>
              <a:xfrm>
                <a:off x="5676180" y="2231367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a14</a:t>
                </a: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88CCB46A-3F68-2736-4021-002A08204DF9}"/>
                  </a:ext>
                </a:extLst>
              </p:cNvPr>
              <p:cNvSpPr/>
              <p:nvPr/>
            </p:nvSpPr>
            <p:spPr>
              <a:xfrm>
                <a:off x="5676180" y="2467156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a13</a:t>
                </a: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61F329AD-7F36-454E-9149-7E64B1377773}"/>
                  </a:ext>
                </a:extLst>
              </p:cNvPr>
              <p:cNvSpPr/>
              <p:nvPr/>
            </p:nvSpPr>
            <p:spPr>
              <a:xfrm>
                <a:off x="5676180" y="2702945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a12</a:t>
                </a:r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DBB9EDEB-65CE-CFE2-969E-49023D96B047}"/>
                  </a:ext>
                </a:extLst>
              </p:cNvPr>
              <p:cNvSpPr/>
              <p:nvPr/>
            </p:nvSpPr>
            <p:spPr>
              <a:xfrm>
                <a:off x="5676180" y="2938734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a11</a:t>
                </a: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ABC2237C-D8F2-1D56-F65E-EE10347ED443}"/>
                  </a:ext>
                </a:extLst>
              </p:cNvPr>
              <p:cNvSpPr/>
              <p:nvPr/>
            </p:nvSpPr>
            <p:spPr>
              <a:xfrm>
                <a:off x="5676180" y="3174523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a10</a:t>
                </a:r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7A567A43-A13B-02DB-FE43-51A631F3011E}"/>
                </a:ext>
              </a:extLst>
            </p:cNvPr>
            <p:cNvGrpSpPr/>
            <p:nvPr/>
          </p:nvGrpSpPr>
          <p:grpSpPr>
            <a:xfrm>
              <a:off x="7106403" y="3190333"/>
              <a:ext cx="372415" cy="1675184"/>
              <a:chOff x="5676180" y="1524000"/>
              <a:chExt cx="276046" cy="1886312"/>
            </a:xfrm>
          </p:grpSpPr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342F2722-B175-7ABD-8106-5DA187EFC507}"/>
                  </a:ext>
                </a:extLst>
              </p:cNvPr>
              <p:cNvSpPr/>
              <p:nvPr/>
            </p:nvSpPr>
            <p:spPr>
              <a:xfrm>
                <a:off x="5676180" y="1524000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a27</a:t>
                </a: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BF7F5D6F-4C02-E2A8-4256-843AB117E3F9}"/>
                  </a:ext>
                </a:extLst>
              </p:cNvPr>
              <p:cNvSpPr/>
              <p:nvPr/>
            </p:nvSpPr>
            <p:spPr>
              <a:xfrm>
                <a:off x="5676180" y="1759789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a26</a:t>
                </a: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F3154D04-A4A0-C0C0-8286-E9B1A0001BD3}"/>
                  </a:ext>
                </a:extLst>
              </p:cNvPr>
              <p:cNvSpPr/>
              <p:nvPr/>
            </p:nvSpPr>
            <p:spPr>
              <a:xfrm>
                <a:off x="5676180" y="1995578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a25</a:t>
                </a: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6E0FE7D0-5D08-B040-381E-F7D9D5787E0A}"/>
                  </a:ext>
                </a:extLst>
              </p:cNvPr>
              <p:cNvSpPr/>
              <p:nvPr/>
            </p:nvSpPr>
            <p:spPr>
              <a:xfrm>
                <a:off x="5676180" y="2231367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a24</a:t>
                </a: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C401344E-EE81-EB11-3881-DB54DB194057}"/>
                  </a:ext>
                </a:extLst>
              </p:cNvPr>
              <p:cNvSpPr/>
              <p:nvPr/>
            </p:nvSpPr>
            <p:spPr>
              <a:xfrm>
                <a:off x="5676180" y="2467156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a23</a:t>
                </a: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E6430952-4729-8845-D386-B667C7CC3173}"/>
                  </a:ext>
                </a:extLst>
              </p:cNvPr>
              <p:cNvSpPr/>
              <p:nvPr/>
            </p:nvSpPr>
            <p:spPr>
              <a:xfrm>
                <a:off x="5676180" y="2702945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a22</a:t>
                </a: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E5BBA57F-5775-E48F-E57A-84C98839AB52}"/>
                  </a:ext>
                </a:extLst>
              </p:cNvPr>
              <p:cNvSpPr/>
              <p:nvPr/>
            </p:nvSpPr>
            <p:spPr>
              <a:xfrm>
                <a:off x="5676180" y="2938734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a21</a:t>
                </a: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5E60C0D9-DDAA-6ACB-8E57-8AB436DE5103}"/>
                  </a:ext>
                </a:extLst>
              </p:cNvPr>
              <p:cNvSpPr/>
              <p:nvPr/>
            </p:nvSpPr>
            <p:spPr>
              <a:xfrm>
                <a:off x="5676180" y="3174523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a20</a:t>
                </a:r>
              </a:p>
            </p:txBody>
          </p: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12F94CE3-6D7F-F8C1-2ADF-528BEDE8096A}"/>
                </a:ext>
              </a:extLst>
            </p:cNvPr>
            <p:cNvGrpSpPr/>
            <p:nvPr/>
          </p:nvGrpSpPr>
          <p:grpSpPr>
            <a:xfrm>
              <a:off x="8440542" y="2148290"/>
              <a:ext cx="372415" cy="1675184"/>
              <a:chOff x="5676180" y="1524000"/>
              <a:chExt cx="276046" cy="1886312"/>
            </a:xfrm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AF7BFCAA-A3B8-3C2B-BAC6-9D3B90DB3801}"/>
                  </a:ext>
                </a:extLst>
              </p:cNvPr>
              <p:cNvSpPr/>
              <p:nvPr/>
            </p:nvSpPr>
            <p:spPr>
              <a:xfrm>
                <a:off x="5676180" y="1524000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a77</a:t>
                </a: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A2574542-A87D-A7DB-4204-4E82E7525437}"/>
                  </a:ext>
                </a:extLst>
              </p:cNvPr>
              <p:cNvSpPr/>
              <p:nvPr/>
            </p:nvSpPr>
            <p:spPr>
              <a:xfrm>
                <a:off x="5676180" y="1759789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a76</a:t>
                </a: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6ACC9A9D-EAD2-54D7-70F4-540A9BFC2CBB}"/>
                  </a:ext>
                </a:extLst>
              </p:cNvPr>
              <p:cNvSpPr/>
              <p:nvPr/>
            </p:nvSpPr>
            <p:spPr>
              <a:xfrm>
                <a:off x="5676180" y="1995578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a75</a:t>
                </a: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3E44E0B2-750B-D1E5-2F07-53656328631A}"/>
                  </a:ext>
                </a:extLst>
              </p:cNvPr>
              <p:cNvSpPr/>
              <p:nvPr/>
            </p:nvSpPr>
            <p:spPr>
              <a:xfrm>
                <a:off x="5676180" y="2231367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a74</a:t>
                </a: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C5F31D69-BF92-71B3-84FE-D2E275CAB450}"/>
                  </a:ext>
                </a:extLst>
              </p:cNvPr>
              <p:cNvSpPr/>
              <p:nvPr/>
            </p:nvSpPr>
            <p:spPr>
              <a:xfrm>
                <a:off x="5676180" y="2467156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a73</a:t>
                </a: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100A9463-67B2-EE19-91C6-433AEF01ED9E}"/>
                  </a:ext>
                </a:extLst>
              </p:cNvPr>
              <p:cNvSpPr/>
              <p:nvPr/>
            </p:nvSpPr>
            <p:spPr>
              <a:xfrm>
                <a:off x="5676180" y="2702945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a72</a:t>
                </a: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5A4956D8-DFAE-98F3-51DC-F709451D0BF3}"/>
                  </a:ext>
                </a:extLst>
              </p:cNvPr>
              <p:cNvSpPr/>
              <p:nvPr/>
            </p:nvSpPr>
            <p:spPr>
              <a:xfrm>
                <a:off x="5676180" y="2938734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a71</a:t>
                </a: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2DB85505-7839-776B-B184-E82969DC9217}"/>
                  </a:ext>
                </a:extLst>
              </p:cNvPr>
              <p:cNvSpPr/>
              <p:nvPr/>
            </p:nvSpPr>
            <p:spPr>
              <a:xfrm>
                <a:off x="5676180" y="3174523"/>
                <a:ext cx="276046" cy="235789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a70</a:t>
                </a:r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929FB13F-6D01-8A6E-7CAB-2C47D4961E68}"/>
                </a:ext>
              </a:extLst>
            </p:cNvPr>
            <p:cNvGrpSpPr/>
            <p:nvPr/>
          </p:nvGrpSpPr>
          <p:grpSpPr>
            <a:xfrm>
              <a:off x="2726894" y="5752860"/>
              <a:ext cx="2983788" cy="209398"/>
              <a:chOff x="2192471" y="5543462"/>
              <a:chExt cx="2983788" cy="209398"/>
            </a:xfrm>
          </p:grpSpPr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61EE00BB-CB55-FA45-C90D-64298251E436}"/>
                  </a:ext>
                </a:extLst>
              </p:cNvPr>
              <p:cNvSpPr/>
              <p:nvPr/>
            </p:nvSpPr>
            <p:spPr>
              <a:xfrm>
                <a:off x="2192471" y="5543462"/>
                <a:ext cx="372415" cy="20939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b07</a:t>
                </a: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D20B2680-6294-A1CD-257E-B406E3DEB41E}"/>
                  </a:ext>
                </a:extLst>
              </p:cNvPr>
              <p:cNvSpPr/>
              <p:nvPr/>
            </p:nvSpPr>
            <p:spPr>
              <a:xfrm>
                <a:off x="2566003" y="5543462"/>
                <a:ext cx="372415" cy="20939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b06</a:t>
                </a: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AB0752E2-9EED-AF95-8667-AB5A9BC10BA2}"/>
                  </a:ext>
                </a:extLst>
              </p:cNvPr>
              <p:cNvSpPr/>
              <p:nvPr/>
            </p:nvSpPr>
            <p:spPr>
              <a:xfrm>
                <a:off x="2938418" y="5543462"/>
                <a:ext cx="372415" cy="20939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b05</a:t>
                </a: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27A490CB-9853-CDB7-D5AF-4F63946AFD67}"/>
                  </a:ext>
                </a:extLst>
              </p:cNvPr>
              <p:cNvSpPr/>
              <p:nvPr/>
            </p:nvSpPr>
            <p:spPr>
              <a:xfrm>
                <a:off x="3311950" y="5543462"/>
                <a:ext cx="372415" cy="20939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b04</a:t>
                </a: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F109809C-E272-43E5-D5D1-E52362B15B56}"/>
                  </a:ext>
                </a:extLst>
              </p:cNvPr>
              <p:cNvSpPr/>
              <p:nvPr/>
            </p:nvSpPr>
            <p:spPr>
              <a:xfrm>
                <a:off x="3684365" y="5543462"/>
                <a:ext cx="372415" cy="20939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b03</a:t>
                </a: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FD686B41-D70C-6D9C-FDC6-938627F70739}"/>
                  </a:ext>
                </a:extLst>
              </p:cNvPr>
              <p:cNvSpPr/>
              <p:nvPr/>
            </p:nvSpPr>
            <p:spPr>
              <a:xfrm>
                <a:off x="4057897" y="5543462"/>
                <a:ext cx="372415" cy="20939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b02</a:t>
                </a: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5C7322ED-5C5B-726F-7637-FF4B7A8402C2}"/>
                  </a:ext>
                </a:extLst>
              </p:cNvPr>
              <p:cNvSpPr/>
              <p:nvPr/>
            </p:nvSpPr>
            <p:spPr>
              <a:xfrm>
                <a:off x="4430312" y="5543462"/>
                <a:ext cx="372415" cy="20939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b01</a:t>
                </a: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55E78A25-7EDB-B3FB-94C4-40A7F01309EB}"/>
                  </a:ext>
                </a:extLst>
              </p:cNvPr>
              <p:cNvSpPr/>
              <p:nvPr/>
            </p:nvSpPr>
            <p:spPr>
              <a:xfrm>
                <a:off x="4803844" y="5543462"/>
                <a:ext cx="372415" cy="20939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b00</a:t>
                </a:r>
              </a:p>
            </p:txBody>
          </p:sp>
        </p:grpSp>
        <p:cxnSp>
          <p:nvCxnSpPr>
            <p:cNvPr id="247" name="Straight Arrow Connector 246">
              <a:extLst>
                <a:ext uri="{FF2B5EF4-FFF2-40B4-BE49-F238E27FC236}">
                  <a16:creationId xmlns:a16="http://schemas.microsoft.com/office/drawing/2014/main" id="{3F12809B-7CFD-5FF8-E919-597DF1EC6E92}"/>
                </a:ext>
              </a:extLst>
            </p:cNvPr>
            <p:cNvCxnSpPr>
              <a:cxnSpLocks/>
              <a:stCxn id="244" idx="3"/>
              <a:endCxn id="97" idx="1"/>
            </p:cNvCxnSpPr>
            <p:nvPr/>
          </p:nvCxnSpPr>
          <p:spPr>
            <a:xfrm>
              <a:off x="5710682" y="5857559"/>
              <a:ext cx="306741" cy="60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4" name="TextBox 253">
            <a:extLst>
              <a:ext uri="{FF2B5EF4-FFF2-40B4-BE49-F238E27FC236}">
                <a16:creationId xmlns:a16="http://schemas.microsoft.com/office/drawing/2014/main" id="{947BD0F0-38B1-B404-B7F5-A66BB82B8ED7}"/>
              </a:ext>
            </a:extLst>
          </p:cNvPr>
          <p:cNvSpPr txBox="1"/>
          <p:nvPr/>
        </p:nvSpPr>
        <p:spPr>
          <a:xfrm>
            <a:off x="382425" y="3294262"/>
            <a:ext cx="56325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Create an array of 8 MAC units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1400" i="1" dirty="0"/>
              <a:t>A</a:t>
            </a:r>
            <a:r>
              <a:rPr lang="en-US" sz="1400" dirty="0"/>
              <a:t> entries (MAC in): 8 bits; </a:t>
            </a:r>
            <a:r>
              <a:rPr lang="en-US" sz="1400" i="1" dirty="0"/>
              <a:t>B</a:t>
            </a:r>
            <a:r>
              <a:rPr lang="en-US" sz="1400" dirty="0"/>
              <a:t> entries (MAC in): 8 bits; </a:t>
            </a:r>
            <a:r>
              <a:rPr lang="en-US" sz="1400" i="1" dirty="0"/>
              <a:t>C</a:t>
            </a:r>
            <a:r>
              <a:rPr lang="en-US" sz="1400" dirty="0"/>
              <a:t> entries (MAC out): 24 bits.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1400" dirty="0"/>
              <a:t>Inputs A and B are provided to the MACs through FIFOs as shown in the diagram.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1400" dirty="0"/>
              <a:t>MAC operations begin after all FIFOs are full. At that time, an En signal gets triggered.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1400" dirty="0"/>
              <a:t>The En signal propagates in the MAC array from left to right with one cycle of delay per MAC. 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1400" dirty="0"/>
              <a:t>B inputs propagate through the MAC array similarly to En.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1400" dirty="0"/>
              <a:t>The results accumulated in </a:t>
            </a:r>
            <a:r>
              <a:rPr lang="en-US" sz="1400" i="1" dirty="0"/>
              <a:t>C</a:t>
            </a:r>
            <a:r>
              <a:rPr lang="en-US" sz="1400" dirty="0"/>
              <a:t> are cleared upon the arrival of a </a:t>
            </a:r>
            <a:r>
              <a:rPr lang="en-US" sz="1400" i="1" dirty="0" err="1"/>
              <a:t>Clr</a:t>
            </a:r>
            <a:r>
              <a:rPr lang="en-US" sz="1400" dirty="0"/>
              <a:t> signal.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45E523EE-EF76-D68B-678E-0FDE1313A749}"/>
              </a:ext>
            </a:extLst>
          </p:cNvPr>
          <p:cNvSpPr txBox="1"/>
          <p:nvPr/>
        </p:nvSpPr>
        <p:spPr>
          <a:xfrm>
            <a:off x="1238438" y="298588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2ABC776B-72B3-DE11-630E-7C80BAAC9ADB}"/>
              </a:ext>
            </a:extLst>
          </p:cNvPr>
          <p:cNvSpPr txBox="1"/>
          <p:nvPr/>
        </p:nvSpPr>
        <p:spPr>
          <a:xfrm>
            <a:off x="2916992" y="29813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FDE757A8-12FD-6711-E42B-B16492C44E2B}"/>
              </a:ext>
            </a:extLst>
          </p:cNvPr>
          <p:cNvSpPr txBox="1"/>
          <p:nvPr/>
        </p:nvSpPr>
        <p:spPr>
          <a:xfrm>
            <a:off x="4442929" y="298588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3" name="Circular Arrow 2">
            <a:extLst>
              <a:ext uri="{FF2B5EF4-FFF2-40B4-BE49-F238E27FC236}">
                <a16:creationId xmlns:a16="http://schemas.microsoft.com/office/drawing/2014/main" id="{4C3BC917-BF61-BBF8-3CEA-0AF9ED904285}"/>
              </a:ext>
            </a:extLst>
          </p:cNvPr>
          <p:cNvSpPr/>
          <p:nvPr/>
        </p:nvSpPr>
        <p:spPr>
          <a:xfrm>
            <a:off x="6109630" y="3138333"/>
            <a:ext cx="643025" cy="643025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ircular Arrow 5">
            <a:extLst>
              <a:ext uri="{FF2B5EF4-FFF2-40B4-BE49-F238E27FC236}">
                <a16:creationId xmlns:a16="http://schemas.microsoft.com/office/drawing/2014/main" id="{5ABFB9CB-C099-DFDF-8E7C-BCA690D91F57}"/>
              </a:ext>
            </a:extLst>
          </p:cNvPr>
          <p:cNvSpPr/>
          <p:nvPr/>
        </p:nvSpPr>
        <p:spPr>
          <a:xfrm>
            <a:off x="6799105" y="2930104"/>
            <a:ext cx="643025" cy="643025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FEF182-7B49-33A8-A2FD-91FB8E6B47BA}"/>
              </a:ext>
            </a:extLst>
          </p:cNvPr>
          <p:cNvSpPr txBox="1"/>
          <p:nvPr/>
        </p:nvSpPr>
        <p:spPr>
          <a:xfrm>
            <a:off x="5814393" y="2858189"/>
            <a:ext cx="8075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+ 1 cycle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509E0B-3CA8-799A-1644-F05A263844F0}"/>
              </a:ext>
            </a:extLst>
          </p:cNvPr>
          <p:cNvSpPr txBox="1"/>
          <p:nvPr/>
        </p:nvSpPr>
        <p:spPr>
          <a:xfrm>
            <a:off x="6531492" y="2709136"/>
            <a:ext cx="8075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+ 1 cycle</a:t>
            </a:r>
          </a:p>
        </p:txBody>
      </p:sp>
    </p:spTree>
    <p:extLst>
      <p:ext uri="{BB962C8B-B14F-4D97-AF65-F5344CB8AC3E}">
        <p14:creationId xmlns:p14="http://schemas.microsoft.com/office/powerpoint/2010/main" val="1044811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11D91-E816-94FA-3164-3DF9D696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36A5EE-16FA-9F1D-089C-96B7A72D73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42915"/>
            <a:ext cx="4727897" cy="350865"/>
          </a:xfrm>
        </p:spPr>
        <p:txBody>
          <a:bodyPr/>
          <a:lstStyle/>
          <a:p>
            <a:r>
              <a:rPr lang="en-US" dirty="0"/>
              <a:t>ECE 554: Digital Engineering Laboratory (Spring 2025)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E1B82AA-BBB0-9F10-8BC5-DDA4D1D9F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Instantiating Regular Structures</a:t>
            </a:r>
          </a:p>
        </p:txBody>
      </p:sp>
      <p:sp>
        <p:nvSpPr>
          <p:cNvPr id="161" name="Title 1">
            <a:extLst>
              <a:ext uri="{FF2B5EF4-FFF2-40B4-BE49-F238E27FC236}">
                <a16:creationId xmlns:a16="http://schemas.microsoft.com/office/drawing/2014/main" id="{076345A9-D459-E77F-F1A1-A2EB6E234F31}"/>
              </a:ext>
            </a:extLst>
          </p:cNvPr>
          <p:cNvSpPr>
            <a:spLocks noGrp="1"/>
          </p:cNvSpPr>
          <p:nvPr/>
        </p:nvSpPr>
        <p:spPr bwMode="auto">
          <a:xfrm>
            <a:off x="-1062679" y="503236"/>
            <a:ext cx="995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itchFamily="34" charset="0"/>
              </a:defRPr>
            </a:lvl5pPr>
            <a:lvl6pPr marL="3429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itchFamily="34" charset="0"/>
              </a:defRPr>
            </a:lvl6pPr>
            <a:lvl7pPr marL="6858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itchFamily="34" charset="0"/>
              </a:defRPr>
            </a:lvl7pPr>
            <a:lvl8pPr marL="10287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itchFamily="34" charset="0"/>
              </a:defRPr>
            </a:lvl8pPr>
            <a:lvl9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endParaRPr lang="en-US" dirty="0"/>
          </a:p>
        </p:txBody>
      </p:sp>
      <p:sp>
        <p:nvSpPr>
          <p:cNvPr id="163" name="TextBox 3">
            <a:extLst>
              <a:ext uri="{FF2B5EF4-FFF2-40B4-BE49-F238E27FC236}">
                <a16:creationId xmlns:a16="http://schemas.microsoft.com/office/drawing/2014/main" id="{9F2C850B-63AD-F5F2-8761-F453C577BB8C}"/>
              </a:ext>
            </a:extLst>
          </p:cNvPr>
          <p:cNvSpPr txBox="1"/>
          <p:nvPr/>
        </p:nvSpPr>
        <p:spPr>
          <a:xfrm>
            <a:off x="553253" y="3520288"/>
            <a:ext cx="3830793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GB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module 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vector_reduce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(input [15:0] 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vec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[7:0],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                    output [15:0] sum);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logic [15:0] sums [8:0]; // note extra wiring</a:t>
            </a:r>
          </a:p>
          <a:p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always_comb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begin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 sums[0] = 0;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 for(int 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i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=0; 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i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&lt;8; ++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i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) begin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   sums[i+1] = sums[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i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] + 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vec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[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i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];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 end // for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end // 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always_comb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HGSGothicE" panose="020B0400000000000000" pitchFamily="34" charset="-128"/>
            </a:endParaRPr>
          </a:p>
          <a:p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endmodule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// 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vector_reduce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HGSGothicE" panose="020B0400000000000000" pitchFamily="34" charset="-128"/>
            </a:endParaRPr>
          </a:p>
        </p:txBody>
      </p:sp>
      <p:sp>
        <p:nvSpPr>
          <p:cNvPr id="164" name="TextBox 5">
            <a:extLst>
              <a:ext uri="{FF2B5EF4-FFF2-40B4-BE49-F238E27FC236}">
                <a16:creationId xmlns:a16="http://schemas.microsoft.com/office/drawing/2014/main" id="{AA3F9739-D03A-E0F8-1851-B3F4E2440F7D}"/>
              </a:ext>
            </a:extLst>
          </p:cNvPr>
          <p:cNvSpPr txBox="1"/>
          <p:nvPr/>
        </p:nvSpPr>
        <p:spPr>
          <a:xfrm>
            <a:off x="4965343" y="3520288"/>
            <a:ext cx="3830792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GB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module 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vector_reduce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(input [15:0] 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vec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[7:0],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                    output [15:0] sum);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logic [15:0] sums [8:0]; // note extra wiring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assign sums[0] = 0;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assign sum = sums[8];</a:t>
            </a:r>
          </a:p>
          <a:p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genvar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i;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generate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 for (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i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=0; 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i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&lt; 8; ++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i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) begin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   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myadder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(.op1(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vec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[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i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]),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            .op2(sums[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i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]),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            .sum(sums[i+1]));</a:t>
            </a:r>
          </a:p>
          <a:p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 end // for(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i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HGSGothicE" panose="020B0400000000000000" pitchFamily="34" charset="-128"/>
            </a:endParaRPr>
          </a:p>
          <a:p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endgenerate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HGSGothicE" panose="020B0400000000000000" pitchFamily="34" charset="-128"/>
            </a:endParaRPr>
          </a:p>
          <a:p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endmodule</a:t>
            </a:r>
            <a:r>
              <a: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 // </a:t>
            </a:r>
            <a:r>
              <a:rPr lang="en-US" sz="1050" dirty="0" err="1">
                <a:solidFill>
                  <a:schemeClr val="tx1"/>
                </a:solidFill>
                <a:latin typeface="Lucida Console" panose="020B0609040504020204" pitchFamily="49" charset="0"/>
                <a:ea typeface="HGSGothicE" panose="020B0400000000000000" pitchFamily="34" charset="-128"/>
              </a:rPr>
              <a:t>vector_reduce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HGSGothicE" panose="020B0400000000000000" pitchFamily="34" charset="-128"/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61A9A372-09BA-72DA-3B75-0F7959095E6A}"/>
              </a:ext>
            </a:extLst>
          </p:cNvPr>
          <p:cNvGrpSpPr/>
          <p:nvPr/>
        </p:nvGrpSpPr>
        <p:grpSpPr>
          <a:xfrm>
            <a:off x="2099186" y="1893904"/>
            <a:ext cx="4569719" cy="1066799"/>
            <a:chOff x="1398280" y="4138450"/>
            <a:chExt cx="5318111" cy="970487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1C51C584-FC4D-8EBE-90C0-A7CB61C17397}"/>
                </a:ext>
              </a:extLst>
            </p:cNvPr>
            <p:cNvGrpSpPr/>
            <p:nvPr/>
          </p:nvGrpSpPr>
          <p:grpSpPr>
            <a:xfrm>
              <a:off x="1443250" y="4138450"/>
              <a:ext cx="869597" cy="946734"/>
              <a:chOff x="1443250" y="4112028"/>
              <a:chExt cx="869597" cy="946734"/>
            </a:xfrm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7C02F8A9-F013-2B03-81A8-47DBAACA99BB}"/>
                  </a:ext>
                </a:extLst>
              </p:cNvPr>
              <p:cNvSpPr/>
              <p:nvPr/>
            </p:nvSpPr>
            <p:spPr>
              <a:xfrm>
                <a:off x="1487488" y="4725144"/>
                <a:ext cx="720080" cy="2616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98" name="TextBox 7">
                <a:extLst>
                  <a:ext uri="{FF2B5EF4-FFF2-40B4-BE49-F238E27FC236}">
                    <a16:creationId xmlns:a16="http://schemas.microsoft.com/office/drawing/2014/main" id="{E55D7447-F069-3658-B19D-A8D05E20925A}"/>
                  </a:ext>
                </a:extLst>
              </p:cNvPr>
              <p:cNvSpPr txBox="1"/>
              <p:nvPr/>
            </p:nvSpPr>
            <p:spPr>
              <a:xfrm>
                <a:off x="1443250" y="4679558"/>
                <a:ext cx="40427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r>
                  <a:rPr lang="en-US" sz="1100" dirty="0">
                    <a:solidFill>
                      <a:schemeClr val="tx1"/>
                    </a:solidFill>
                    <a:latin typeface="+mj-lt"/>
                  </a:rPr>
                  <a:t>op1</a:t>
                </a:r>
              </a:p>
            </p:txBody>
          </p:sp>
          <p:sp>
            <p:nvSpPr>
              <p:cNvPr id="199" name="TextBox 8">
                <a:extLst>
                  <a:ext uri="{FF2B5EF4-FFF2-40B4-BE49-F238E27FC236}">
                    <a16:creationId xmlns:a16="http://schemas.microsoft.com/office/drawing/2014/main" id="{563DEE50-F759-45B5-5521-4FAEDB25A4F7}"/>
                  </a:ext>
                </a:extLst>
              </p:cNvPr>
              <p:cNvSpPr txBox="1"/>
              <p:nvPr/>
            </p:nvSpPr>
            <p:spPr>
              <a:xfrm>
                <a:off x="1842044" y="4679558"/>
                <a:ext cx="40427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r>
                  <a:rPr lang="en-US" sz="1100" dirty="0">
                    <a:solidFill>
                      <a:schemeClr val="tx1"/>
                    </a:solidFill>
                    <a:latin typeface="+mj-lt"/>
                  </a:rPr>
                  <a:t>op2</a:t>
                </a:r>
              </a:p>
            </p:txBody>
          </p:sp>
          <p:sp>
            <p:nvSpPr>
              <p:cNvPr id="200" name="TextBox 9">
                <a:extLst>
                  <a:ext uri="{FF2B5EF4-FFF2-40B4-BE49-F238E27FC236}">
                    <a16:creationId xmlns:a16="http://schemas.microsoft.com/office/drawing/2014/main" id="{545399DF-CE7B-3E23-0A9C-0741D6C33636}"/>
                  </a:ext>
                </a:extLst>
              </p:cNvPr>
              <p:cNvSpPr txBox="1"/>
              <p:nvPr/>
            </p:nvSpPr>
            <p:spPr>
              <a:xfrm>
                <a:off x="1631504" y="4797152"/>
                <a:ext cx="42511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r>
                  <a:rPr lang="en-US" sz="1100" dirty="0">
                    <a:solidFill>
                      <a:schemeClr val="tx1"/>
                    </a:solidFill>
                    <a:latin typeface="+mj-lt"/>
                  </a:rPr>
                  <a:t>sum</a:t>
                </a:r>
              </a:p>
            </p:txBody>
          </p:sp>
          <p:sp>
            <p:nvSpPr>
              <p:cNvPr id="201" name="TextBox 10">
                <a:extLst>
                  <a:ext uri="{FF2B5EF4-FFF2-40B4-BE49-F238E27FC236}">
                    <a16:creationId xmlns:a16="http://schemas.microsoft.com/office/drawing/2014/main" id="{73562A57-673A-1592-2313-E5FE3DD568BF}"/>
                  </a:ext>
                </a:extLst>
              </p:cNvPr>
              <p:cNvSpPr txBox="1"/>
              <p:nvPr/>
            </p:nvSpPr>
            <p:spPr>
              <a:xfrm>
                <a:off x="1775520" y="4112028"/>
                <a:ext cx="53732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r>
                  <a:rPr lang="en-US" sz="1100" dirty="0" err="1">
                    <a:solidFill>
                      <a:schemeClr val="tx1"/>
                    </a:solidFill>
                    <a:latin typeface="+mj-lt"/>
                  </a:rPr>
                  <a:t>vec</a:t>
                </a:r>
                <a:r>
                  <a:rPr lang="en-US" sz="1100" dirty="0">
                    <a:solidFill>
                      <a:schemeClr val="tx1"/>
                    </a:solidFill>
                    <a:latin typeface="+mj-lt"/>
                  </a:rPr>
                  <a:t>[0]</a:t>
                </a:r>
              </a:p>
            </p:txBody>
          </p:sp>
          <p:cxnSp>
            <p:nvCxnSpPr>
              <p:cNvPr id="202" name="Connector: Elbow 201">
                <a:extLst>
                  <a:ext uri="{FF2B5EF4-FFF2-40B4-BE49-F238E27FC236}">
                    <a16:creationId xmlns:a16="http://schemas.microsoft.com/office/drawing/2014/main" id="{FD064832-7AC6-FC54-877F-C7C8F9221322}"/>
                  </a:ext>
                </a:extLst>
              </p:cNvPr>
              <p:cNvCxnSpPr>
                <a:stCxn id="201" idx="2"/>
                <a:endCxn id="199" idx="0"/>
              </p:cNvCxnSpPr>
              <p:nvPr/>
            </p:nvCxnSpPr>
            <p:spPr>
              <a:xfrm rot="5400000">
                <a:off x="1891224" y="4526598"/>
                <a:ext cx="305920" cy="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F8845203-4C6F-2B57-2DD3-CDE23C0DA99A}"/>
                </a:ext>
              </a:extLst>
            </p:cNvPr>
            <p:cNvGrpSpPr/>
            <p:nvPr/>
          </p:nvGrpSpPr>
          <p:grpSpPr>
            <a:xfrm>
              <a:off x="2423592" y="4138450"/>
              <a:ext cx="869597" cy="946734"/>
              <a:chOff x="1443250" y="4112028"/>
              <a:chExt cx="869597" cy="946734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D575C3D3-28D0-281C-7D0C-5087FF9BD914}"/>
                  </a:ext>
                </a:extLst>
              </p:cNvPr>
              <p:cNvSpPr/>
              <p:nvPr/>
            </p:nvSpPr>
            <p:spPr>
              <a:xfrm>
                <a:off x="1487488" y="4725144"/>
                <a:ext cx="720080" cy="2616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92" name="TextBox 22">
                <a:extLst>
                  <a:ext uri="{FF2B5EF4-FFF2-40B4-BE49-F238E27FC236}">
                    <a16:creationId xmlns:a16="http://schemas.microsoft.com/office/drawing/2014/main" id="{9120C310-DFBC-ED7F-68E2-0433D47AD6C9}"/>
                  </a:ext>
                </a:extLst>
              </p:cNvPr>
              <p:cNvSpPr txBox="1"/>
              <p:nvPr/>
            </p:nvSpPr>
            <p:spPr>
              <a:xfrm>
                <a:off x="1443250" y="4679558"/>
                <a:ext cx="40427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r>
                  <a:rPr lang="en-US" sz="1100" dirty="0">
                    <a:solidFill>
                      <a:schemeClr val="tx1"/>
                    </a:solidFill>
                    <a:latin typeface="+mj-lt"/>
                  </a:rPr>
                  <a:t>op1</a:t>
                </a:r>
              </a:p>
            </p:txBody>
          </p:sp>
          <p:sp>
            <p:nvSpPr>
              <p:cNvPr id="193" name="TextBox 23">
                <a:extLst>
                  <a:ext uri="{FF2B5EF4-FFF2-40B4-BE49-F238E27FC236}">
                    <a16:creationId xmlns:a16="http://schemas.microsoft.com/office/drawing/2014/main" id="{233A1D69-7B67-2060-972A-4441547704AC}"/>
                  </a:ext>
                </a:extLst>
              </p:cNvPr>
              <p:cNvSpPr txBox="1"/>
              <p:nvPr/>
            </p:nvSpPr>
            <p:spPr>
              <a:xfrm>
                <a:off x="1842044" y="4679558"/>
                <a:ext cx="40427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r>
                  <a:rPr lang="en-US" sz="1100" dirty="0">
                    <a:solidFill>
                      <a:schemeClr val="tx1"/>
                    </a:solidFill>
                    <a:latin typeface="+mj-lt"/>
                  </a:rPr>
                  <a:t>op2</a:t>
                </a:r>
              </a:p>
            </p:txBody>
          </p:sp>
          <p:sp>
            <p:nvSpPr>
              <p:cNvPr id="194" name="TextBox 24">
                <a:extLst>
                  <a:ext uri="{FF2B5EF4-FFF2-40B4-BE49-F238E27FC236}">
                    <a16:creationId xmlns:a16="http://schemas.microsoft.com/office/drawing/2014/main" id="{3649FA8D-D4E4-C76E-4951-4C3B69134464}"/>
                  </a:ext>
                </a:extLst>
              </p:cNvPr>
              <p:cNvSpPr txBox="1"/>
              <p:nvPr/>
            </p:nvSpPr>
            <p:spPr>
              <a:xfrm>
                <a:off x="1631504" y="4797152"/>
                <a:ext cx="42511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r>
                  <a:rPr lang="en-US" sz="1100" dirty="0">
                    <a:solidFill>
                      <a:schemeClr val="tx1"/>
                    </a:solidFill>
                    <a:latin typeface="+mj-lt"/>
                  </a:rPr>
                  <a:t>sum</a:t>
                </a:r>
              </a:p>
            </p:txBody>
          </p:sp>
          <p:sp>
            <p:nvSpPr>
              <p:cNvPr id="195" name="TextBox 25">
                <a:extLst>
                  <a:ext uri="{FF2B5EF4-FFF2-40B4-BE49-F238E27FC236}">
                    <a16:creationId xmlns:a16="http://schemas.microsoft.com/office/drawing/2014/main" id="{14AE69A5-B046-BD16-EBA3-7882086EA1AE}"/>
                  </a:ext>
                </a:extLst>
              </p:cNvPr>
              <p:cNvSpPr txBox="1"/>
              <p:nvPr/>
            </p:nvSpPr>
            <p:spPr>
              <a:xfrm>
                <a:off x="1775520" y="4112028"/>
                <a:ext cx="53732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r>
                  <a:rPr lang="en-US" sz="1100" dirty="0" err="1">
                    <a:solidFill>
                      <a:schemeClr val="tx1"/>
                    </a:solidFill>
                    <a:latin typeface="+mj-lt"/>
                  </a:rPr>
                  <a:t>vec</a:t>
                </a:r>
                <a:r>
                  <a:rPr lang="en-US" sz="1100" dirty="0">
                    <a:solidFill>
                      <a:schemeClr val="tx1"/>
                    </a:solidFill>
                    <a:latin typeface="+mj-lt"/>
                  </a:rPr>
                  <a:t>[1]</a:t>
                </a:r>
              </a:p>
            </p:txBody>
          </p:sp>
          <p:cxnSp>
            <p:nvCxnSpPr>
              <p:cNvPr id="196" name="Connector: Elbow 195">
                <a:extLst>
                  <a:ext uri="{FF2B5EF4-FFF2-40B4-BE49-F238E27FC236}">
                    <a16:creationId xmlns:a16="http://schemas.microsoft.com/office/drawing/2014/main" id="{A5D569D3-D0BB-C917-9863-872412887467}"/>
                  </a:ext>
                </a:extLst>
              </p:cNvPr>
              <p:cNvCxnSpPr>
                <a:stCxn id="195" idx="2"/>
                <a:endCxn id="193" idx="0"/>
              </p:cNvCxnSpPr>
              <p:nvPr/>
            </p:nvCxnSpPr>
            <p:spPr>
              <a:xfrm rot="5400000">
                <a:off x="1891224" y="4526598"/>
                <a:ext cx="305920" cy="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F251C187-D0B5-5E28-11F4-6BCD5F83A901}"/>
                </a:ext>
              </a:extLst>
            </p:cNvPr>
            <p:cNvGrpSpPr/>
            <p:nvPr/>
          </p:nvGrpSpPr>
          <p:grpSpPr>
            <a:xfrm>
              <a:off x="3426203" y="4138450"/>
              <a:ext cx="869597" cy="946734"/>
              <a:chOff x="1443250" y="4112028"/>
              <a:chExt cx="869597" cy="946734"/>
            </a:xfrm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39596C18-416F-74D8-B48F-4221DA1F5FF6}"/>
                  </a:ext>
                </a:extLst>
              </p:cNvPr>
              <p:cNvSpPr/>
              <p:nvPr/>
            </p:nvSpPr>
            <p:spPr>
              <a:xfrm>
                <a:off x="1487488" y="4725144"/>
                <a:ext cx="720080" cy="2616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86" name="TextBox 29">
                <a:extLst>
                  <a:ext uri="{FF2B5EF4-FFF2-40B4-BE49-F238E27FC236}">
                    <a16:creationId xmlns:a16="http://schemas.microsoft.com/office/drawing/2014/main" id="{C4746074-7046-3FE7-FFE4-51F78CBBF868}"/>
                  </a:ext>
                </a:extLst>
              </p:cNvPr>
              <p:cNvSpPr txBox="1"/>
              <p:nvPr/>
            </p:nvSpPr>
            <p:spPr>
              <a:xfrm>
                <a:off x="1443250" y="4679558"/>
                <a:ext cx="40427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r>
                  <a:rPr lang="en-US" sz="1100" dirty="0">
                    <a:solidFill>
                      <a:schemeClr val="tx1"/>
                    </a:solidFill>
                    <a:latin typeface="+mj-lt"/>
                  </a:rPr>
                  <a:t>op1</a:t>
                </a:r>
              </a:p>
            </p:txBody>
          </p:sp>
          <p:sp>
            <p:nvSpPr>
              <p:cNvPr id="187" name="TextBox 30">
                <a:extLst>
                  <a:ext uri="{FF2B5EF4-FFF2-40B4-BE49-F238E27FC236}">
                    <a16:creationId xmlns:a16="http://schemas.microsoft.com/office/drawing/2014/main" id="{F36C20FF-455C-FED8-9B01-2222588EA5F1}"/>
                  </a:ext>
                </a:extLst>
              </p:cNvPr>
              <p:cNvSpPr txBox="1"/>
              <p:nvPr/>
            </p:nvSpPr>
            <p:spPr>
              <a:xfrm>
                <a:off x="1842044" y="4679558"/>
                <a:ext cx="40427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r>
                  <a:rPr lang="en-US" sz="1100" dirty="0">
                    <a:solidFill>
                      <a:schemeClr val="tx1"/>
                    </a:solidFill>
                    <a:latin typeface="+mj-lt"/>
                  </a:rPr>
                  <a:t>op2</a:t>
                </a:r>
              </a:p>
            </p:txBody>
          </p:sp>
          <p:sp>
            <p:nvSpPr>
              <p:cNvPr id="188" name="TextBox 31">
                <a:extLst>
                  <a:ext uri="{FF2B5EF4-FFF2-40B4-BE49-F238E27FC236}">
                    <a16:creationId xmlns:a16="http://schemas.microsoft.com/office/drawing/2014/main" id="{DBEB19AD-CDC1-DE5D-3225-D694FEACC932}"/>
                  </a:ext>
                </a:extLst>
              </p:cNvPr>
              <p:cNvSpPr txBox="1"/>
              <p:nvPr/>
            </p:nvSpPr>
            <p:spPr>
              <a:xfrm>
                <a:off x="1631504" y="4797152"/>
                <a:ext cx="42511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r>
                  <a:rPr lang="en-US" sz="1100" dirty="0">
                    <a:solidFill>
                      <a:schemeClr val="tx1"/>
                    </a:solidFill>
                    <a:latin typeface="+mj-lt"/>
                  </a:rPr>
                  <a:t>sum</a:t>
                </a:r>
              </a:p>
            </p:txBody>
          </p:sp>
          <p:sp>
            <p:nvSpPr>
              <p:cNvPr id="189" name="TextBox 32">
                <a:extLst>
                  <a:ext uri="{FF2B5EF4-FFF2-40B4-BE49-F238E27FC236}">
                    <a16:creationId xmlns:a16="http://schemas.microsoft.com/office/drawing/2014/main" id="{060057B2-7745-5CFA-1BF1-4FC3080DF244}"/>
                  </a:ext>
                </a:extLst>
              </p:cNvPr>
              <p:cNvSpPr txBox="1"/>
              <p:nvPr/>
            </p:nvSpPr>
            <p:spPr>
              <a:xfrm>
                <a:off x="1775520" y="4112028"/>
                <a:ext cx="53732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r>
                  <a:rPr lang="en-US" sz="1100" dirty="0" err="1">
                    <a:solidFill>
                      <a:schemeClr val="tx1"/>
                    </a:solidFill>
                    <a:latin typeface="+mj-lt"/>
                  </a:rPr>
                  <a:t>vec</a:t>
                </a:r>
                <a:r>
                  <a:rPr lang="en-US" sz="1100" dirty="0">
                    <a:solidFill>
                      <a:schemeClr val="tx1"/>
                    </a:solidFill>
                    <a:latin typeface="+mj-lt"/>
                  </a:rPr>
                  <a:t>[2]</a:t>
                </a:r>
              </a:p>
            </p:txBody>
          </p:sp>
          <p:cxnSp>
            <p:nvCxnSpPr>
              <p:cNvPr id="190" name="Connector: Elbow 189">
                <a:extLst>
                  <a:ext uri="{FF2B5EF4-FFF2-40B4-BE49-F238E27FC236}">
                    <a16:creationId xmlns:a16="http://schemas.microsoft.com/office/drawing/2014/main" id="{07711065-1D65-BBED-D964-C6DB74EEAED6}"/>
                  </a:ext>
                </a:extLst>
              </p:cNvPr>
              <p:cNvCxnSpPr>
                <a:stCxn id="189" idx="2"/>
                <a:endCxn id="187" idx="0"/>
              </p:cNvCxnSpPr>
              <p:nvPr/>
            </p:nvCxnSpPr>
            <p:spPr>
              <a:xfrm rot="5400000">
                <a:off x="1891224" y="4526598"/>
                <a:ext cx="305920" cy="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70965C37-ED9B-FC49-D9F9-388EC0660E7A}"/>
                </a:ext>
              </a:extLst>
            </p:cNvPr>
            <p:cNvGrpSpPr/>
            <p:nvPr/>
          </p:nvGrpSpPr>
          <p:grpSpPr>
            <a:xfrm>
              <a:off x="5226403" y="4138450"/>
              <a:ext cx="1154931" cy="946734"/>
              <a:chOff x="1443250" y="4112028"/>
              <a:chExt cx="1154931" cy="946734"/>
            </a:xfrm>
          </p:grpSpPr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C8BFCFFE-F6D3-F260-0C33-BF322D7C1C40}"/>
                  </a:ext>
                </a:extLst>
              </p:cNvPr>
              <p:cNvSpPr/>
              <p:nvPr/>
            </p:nvSpPr>
            <p:spPr>
              <a:xfrm>
                <a:off x="1487488" y="4725144"/>
                <a:ext cx="720080" cy="2616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80" name="TextBox 36">
                <a:extLst>
                  <a:ext uri="{FF2B5EF4-FFF2-40B4-BE49-F238E27FC236}">
                    <a16:creationId xmlns:a16="http://schemas.microsoft.com/office/drawing/2014/main" id="{FD7DE90E-9AEF-782B-EC28-F90BC3690E2B}"/>
                  </a:ext>
                </a:extLst>
              </p:cNvPr>
              <p:cNvSpPr txBox="1"/>
              <p:nvPr/>
            </p:nvSpPr>
            <p:spPr>
              <a:xfrm>
                <a:off x="1443250" y="4679558"/>
                <a:ext cx="40427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r>
                  <a:rPr lang="en-US" sz="1100" dirty="0">
                    <a:solidFill>
                      <a:schemeClr val="tx1"/>
                    </a:solidFill>
                    <a:latin typeface="+mj-lt"/>
                  </a:rPr>
                  <a:t>op1</a:t>
                </a:r>
              </a:p>
            </p:txBody>
          </p:sp>
          <p:sp>
            <p:nvSpPr>
              <p:cNvPr id="181" name="TextBox 37">
                <a:extLst>
                  <a:ext uri="{FF2B5EF4-FFF2-40B4-BE49-F238E27FC236}">
                    <a16:creationId xmlns:a16="http://schemas.microsoft.com/office/drawing/2014/main" id="{3C429004-BDEF-AF51-30EE-E2BB6A4FA943}"/>
                  </a:ext>
                </a:extLst>
              </p:cNvPr>
              <p:cNvSpPr txBox="1"/>
              <p:nvPr/>
            </p:nvSpPr>
            <p:spPr>
              <a:xfrm>
                <a:off x="1842044" y="4679558"/>
                <a:ext cx="40427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r>
                  <a:rPr lang="en-US" sz="1100" dirty="0">
                    <a:solidFill>
                      <a:schemeClr val="tx1"/>
                    </a:solidFill>
                    <a:latin typeface="+mj-lt"/>
                  </a:rPr>
                  <a:t>op2</a:t>
                </a:r>
              </a:p>
            </p:txBody>
          </p:sp>
          <p:sp>
            <p:nvSpPr>
              <p:cNvPr id="182" name="TextBox 38">
                <a:extLst>
                  <a:ext uri="{FF2B5EF4-FFF2-40B4-BE49-F238E27FC236}">
                    <a16:creationId xmlns:a16="http://schemas.microsoft.com/office/drawing/2014/main" id="{69FBD6C5-B836-7528-4E0E-D122DCCBCA0E}"/>
                  </a:ext>
                </a:extLst>
              </p:cNvPr>
              <p:cNvSpPr txBox="1"/>
              <p:nvPr/>
            </p:nvSpPr>
            <p:spPr>
              <a:xfrm>
                <a:off x="1631504" y="4797152"/>
                <a:ext cx="42511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r>
                  <a:rPr lang="en-US" sz="1100" dirty="0">
                    <a:solidFill>
                      <a:schemeClr val="tx1"/>
                    </a:solidFill>
                    <a:latin typeface="+mj-lt"/>
                  </a:rPr>
                  <a:t>sum</a:t>
                </a:r>
              </a:p>
            </p:txBody>
          </p:sp>
          <p:sp>
            <p:nvSpPr>
              <p:cNvPr id="183" name="TextBox 39">
                <a:extLst>
                  <a:ext uri="{FF2B5EF4-FFF2-40B4-BE49-F238E27FC236}">
                    <a16:creationId xmlns:a16="http://schemas.microsoft.com/office/drawing/2014/main" id="{61320834-D241-E53A-776E-BDFA0C2B2BF5}"/>
                  </a:ext>
                </a:extLst>
              </p:cNvPr>
              <p:cNvSpPr txBox="1"/>
              <p:nvPr/>
            </p:nvSpPr>
            <p:spPr>
              <a:xfrm>
                <a:off x="1775520" y="4112028"/>
                <a:ext cx="82266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GB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bg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defRPr>
                </a:lvl9pPr>
              </a:lstStyle>
              <a:p>
                <a:r>
                  <a:rPr lang="en-US" sz="1100" dirty="0" err="1">
                    <a:solidFill>
                      <a:schemeClr val="tx1"/>
                    </a:solidFill>
                    <a:latin typeface="+mj-lt"/>
                  </a:rPr>
                  <a:t>vec</a:t>
                </a:r>
                <a:r>
                  <a:rPr lang="en-US" sz="1100" dirty="0">
                    <a:solidFill>
                      <a:schemeClr val="tx1"/>
                    </a:solidFill>
                    <a:latin typeface="+mj-lt"/>
                  </a:rPr>
                  <a:t>[DIM-1]</a:t>
                </a:r>
              </a:p>
            </p:txBody>
          </p:sp>
          <p:cxnSp>
            <p:nvCxnSpPr>
              <p:cNvPr id="184" name="Connector: Elbow 183">
                <a:extLst>
                  <a:ext uri="{FF2B5EF4-FFF2-40B4-BE49-F238E27FC236}">
                    <a16:creationId xmlns:a16="http://schemas.microsoft.com/office/drawing/2014/main" id="{DFD499CA-5B35-5CD2-622D-846C13F7C42B}"/>
                  </a:ext>
                </a:extLst>
              </p:cNvPr>
              <p:cNvCxnSpPr>
                <a:stCxn id="183" idx="2"/>
                <a:endCxn id="181" idx="0"/>
              </p:cNvCxnSpPr>
              <p:nvPr/>
            </p:nvCxnSpPr>
            <p:spPr>
              <a:xfrm rot="5400000">
                <a:off x="1962557" y="4455264"/>
                <a:ext cx="305920" cy="142668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0" name="TextBox 41">
              <a:extLst>
                <a:ext uri="{FF2B5EF4-FFF2-40B4-BE49-F238E27FC236}">
                  <a16:creationId xmlns:a16="http://schemas.microsoft.com/office/drawing/2014/main" id="{428D7314-E84E-26B5-FABA-CF19FC4974F2}"/>
                </a:ext>
              </a:extLst>
            </p:cNvPr>
            <p:cNvSpPr txBox="1"/>
            <p:nvPr/>
          </p:nvSpPr>
          <p:spPr>
            <a:xfrm>
              <a:off x="4409319" y="470390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GB"/>
              </a:defPPr>
              <a:lvl1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r>
                <a:rPr lang="en-US" sz="1800" dirty="0">
                  <a:solidFill>
                    <a:schemeClr val="tx1"/>
                  </a:solidFill>
                </a:rPr>
                <a:t>…</a:t>
              </a:r>
            </a:p>
          </p:txBody>
        </p:sp>
        <p:cxnSp>
          <p:nvCxnSpPr>
            <p:cNvPr id="171" name="Connector: Elbow 170">
              <a:extLst>
                <a:ext uri="{FF2B5EF4-FFF2-40B4-BE49-F238E27FC236}">
                  <a16:creationId xmlns:a16="http://schemas.microsoft.com/office/drawing/2014/main" id="{E2AE78C9-3F7C-121E-DE65-AB643A8222C6}"/>
                </a:ext>
              </a:extLst>
            </p:cNvPr>
            <p:cNvCxnSpPr>
              <a:stCxn id="200" idx="2"/>
              <a:endCxn id="192" idx="0"/>
            </p:cNvCxnSpPr>
            <p:nvPr/>
          </p:nvCxnSpPr>
          <p:spPr>
            <a:xfrm rot="5400000" flipH="1" flipV="1">
              <a:off x="2045294" y="4504747"/>
              <a:ext cx="379204" cy="781669"/>
            </a:xfrm>
            <a:prstGeom prst="bentConnector5">
              <a:avLst>
                <a:gd name="adj1" fmla="val -60284"/>
                <a:gd name="adj2" fmla="val 50666"/>
                <a:gd name="adj3" fmla="val 160284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Connector: Elbow 171">
              <a:extLst>
                <a:ext uri="{FF2B5EF4-FFF2-40B4-BE49-F238E27FC236}">
                  <a16:creationId xmlns:a16="http://schemas.microsoft.com/office/drawing/2014/main" id="{196BC074-D8C9-B302-4AD5-474745F98FFE}"/>
                </a:ext>
              </a:extLst>
            </p:cNvPr>
            <p:cNvCxnSpPr>
              <a:stCxn id="194" idx="2"/>
              <a:endCxn id="186" idx="0"/>
            </p:cNvCxnSpPr>
            <p:nvPr/>
          </p:nvCxnSpPr>
          <p:spPr>
            <a:xfrm rot="5400000" flipH="1" flipV="1">
              <a:off x="3036771" y="4493613"/>
              <a:ext cx="379204" cy="803938"/>
            </a:xfrm>
            <a:prstGeom prst="bentConnector5">
              <a:avLst>
                <a:gd name="adj1" fmla="val -60284"/>
                <a:gd name="adj2" fmla="val 50648"/>
                <a:gd name="adj3" fmla="val 160284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Connector: Elbow 172">
              <a:extLst>
                <a:ext uri="{FF2B5EF4-FFF2-40B4-BE49-F238E27FC236}">
                  <a16:creationId xmlns:a16="http://schemas.microsoft.com/office/drawing/2014/main" id="{BEEF9563-5DAF-6DF9-9B6A-648A293D823D}"/>
                </a:ext>
              </a:extLst>
            </p:cNvPr>
            <p:cNvCxnSpPr>
              <a:cxnSpLocks/>
              <a:stCxn id="188" idx="2"/>
              <a:endCxn id="170" idx="0"/>
            </p:cNvCxnSpPr>
            <p:nvPr/>
          </p:nvCxnSpPr>
          <p:spPr>
            <a:xfrm rot="5400000" flipH="1" flipV="1">
              <a:off x="4031401" y="4499518"/>
              <a:ext cx="381279" cy="790053"/>
            </a:xfrm>
            <a:prstGeom prst="bentConnector5">
              <a:avLst>
                <a:gd name="adj1" fmla="val -59956"/>
                <a:gd name="adj2" fmla="val 50304"/>
                <a:gd name="adj3" fmla="val 159956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Connector: Elbow 173">
              <a:extLst>
                <a:ext uri="{FF2B5EF4-FFF2-40B4-BE49-F238E27FC236}">
                  <a16:creationId xmlns:a16="http://schemas.microsoft.com/office/drawing/2014/main" id="{EFDB562E-A3FC-4BEF-62FB-48CE7C2E4763}"/>
                </a:ext>
              </a:extLst>
            </p:cNvPr>
            <p:cNvCxnSpPr/>
            <p:nvPr/>
          </p:nvCxnSpPr>
          <p:spPr>
            <a:xfrm rot="5400000" flipH="1" flipV="1">
              <a:off x="4812077" y="4517366"/>
              <a:ext cx="379204" cy="803938"/>
            </a:xfrm>
            <a:prstGeom prst="bentConnector5">
              <a:avLst>
                <a:gd name="adj1" fmla="val -60284"/>
                <a:gd name="adj2" fmla="val 50648"/>
                <a:gd name="adj3" fmla="val 160284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5" name="TextBox 50">
              <a:extLst>
                <a:ext uri="{FF2B5EF4-FFF2-40B4-BE49-F238E27FC236}">
                  <a16:creationId xmlns:a16="http://schemas.microsoft.com/office/drawing/2014/main" id="{30C42A41-3945-D31D-9684-844D392DBBEF}"/>
                </a:ext>
              </a:extLst>
            </p:cNvPr>
            <p:cNvSpPr txBox="1"/>
            <p:nvPr/>
          </p:nvSpPr>
          <p:spPr>
            <a:xfrm>
              <a:off x="6291275" y="4741372"/>
              <a:ext cx="4251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GB"/>
              </a:defPPr>
              <a:lvl1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+mj-lt"/>
                </a:rPr>
                <a:t>sum</a:t>
              </a:r>
            </a:p>
          </p:txBody>
        </p:sp>
        <p:cxnSp>
          <p:nvCxnSpPr>
            <p:cNvPr id="176" name="Connector: Elbow 175">
              <a:extLst>
                <a:ext uri="{FF2B5EF4-FFF2-40B4-BE49-F238E27FC236}">
                  <a16:creationId xmlns:a16="http://schemas.microsoft.com/office/drawing/2014/main" id="{FDAA68C4-0661-657D-E8F4-82F65CA78EEF}"/>
                </a:ext>
              </a:extLst>
            </p:cNvPr>
            <p:cNvCxnSpPr>
              <a:stCxn id="182" idx="2"/>
              <a:endCxn id="175" idx="1"/>
            </p:cNvCxnSpPr>
            <p:nvPr/>
          </p:nvCxnSpPr>
          <p:spPr>
            <a:xfrm rot="5400000" flipH="1" flipV="1">
              <a:off x="5852741" y="4646651"/>
              <a:ext cx="213007" cy="664060"/>
            </a:xfrm>
            <a:prstGeom prst="bentConnector4">
              <a:avLst>
                <a:gd name="adj1" fmla="val -107320"/>
                <a:gd name="adj2" fmla="val 66004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7" name="TextBox 53">
              <a:extLst>
                <a:ext uri="{FF2B5EF4-FFF2-40B4-BE49-F238E27FC236}">
                  <a16:creationId xmlns:a16="http://schemas.microsoft.com/office/drawing/2014/main" id="{6438193B-C39A-2FDB-1936-D7E4B39B1E0F}"/>
                </a:ext>
              </a:extLst>
            </p:cNvPr>
            <p:cNvSpPr txBox="1"/>
            <p:nvPr/>
          </p:nvSpPr>
          <p:spPr>
            <a:xfrm>
              <a:off x="1398280" y="413845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GB"/>
              </a:defPPr>
              <a:lvl1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+mj-lt"/>
                </a:rPr>
                <a:t>0</a:t>
              </a:r>
            </a:p>
          </p:txBody>
        </p:sp>
        <p:cxnSp>
          <p:nvCxnSpPr>
            <p:cNvPr id="178" name="Connector: Elbow 177">
              <a:extLst>
                <a:ext uri="{FF2B5EF4-FFF2-40B4-BE49-F238E27FC236}">
                  <a16:creationId xmlns:a16="http://schemas.microsoft.com/office/drawing/2014/main" id="{4CD18AA5-8034-BCE3-B35E-869461777334}"/>
                </a:ext>
              </a:extLst>
            </p:cNvPr>
            <p:cNvCxnSpPr>
              <a:stCxn id="177" idx="2"/>
              <a:endCxn id="198" idx="0"/>
            </p:cNvCxnSpPr>
            <p:nvPr/>
          </p:nvCxnSpPr>
          <p:spPr>
            <a:xfrm rot="16200000" flipH="1">
              <a:off x="1433075" y="4493666"/>
              <a:ext cx="305920" cy="118708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65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C1BF-6B28-828E-482B-5439BA0DB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5D7E-1FE2-0AE5-98DB-066538A6E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Part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23554-C4BD-A29B-8C76-57501CC6D8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42915"/>
            <a:ext cx="4727897" cy="350865"/>
          </a:xfrm>
        </p:spPr>
        <p:txBody>
          <a:bodyPr/>
          <a:lstStyle/>
          <a:p>
            <a:r>
              <a:rPr lang="en-US" dirty="0"/>
              <a:t>ECE 554: Digital Engineering Laboratory (Spring 2025)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7170E7E3-ECF0-77D1-43ED-494011919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1785557"/>
            <a:ext cx="8367083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360" tIns="44280" rIns="90360" bIns="44280"/>
          <a:lstStyle>
            <a:lvl1pPr marL="339725" indent="-33972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39775" indent="-28257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eaLnBrk="1" hangingPunct="1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ar-SA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‏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 1 consists of 2 subparts. </a:t>
            </a:r>
          </a:p>
          <a:p>
            <a:pPr marL="742950" lvl="1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en-US" altLang="en-US" sz="1600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 1a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Complete the design and simulate it with a testbench.</a:t>
            </a:r>
          </a:p>
          <a:p>
            <a:pPr marL="1146175" lvl="2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memory module with a </a:t>
            </a:r>
            <a:r>
              <a:rPr lang="en-US" altLang="en-US" sz="1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altLang="en-US" sz="16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mif</a:t>
            </a:r>
            <a:r>
              <a:rPr lang="en-US" altLang="en-US" sz="1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is provided along with the required IP files. The memory module has a partial implementation of INTEL Avalon MM slave interface. Apart from the matrix-vector multiplication module, design a module that fetches data from the provided memory module to fill the FIFOs. Look at Tables 1 &amp; 2 and Figure 7 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here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more details on Avalon MM Interface.</a:t>
            </a:r>
          </a:p>
          <a:p>
            <a:pPr marL="1146175" lvl="2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testbench should print all interface signals, states, and output signals.</a:t>
            </a:r>
          </a:p>
          <a:p>
            <a:pPr marL="1146175" lvl="2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this command to simulate in </a:t>
            </a:r>
            <a:r>
              <a:rPr lang="en-US" altLang="en-US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QuestaSim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803275" lvl="2" indent="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</a:pPr>
            <a:r>
              <a:rPr lang="en-US" altLang="en-US" sz="1600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vsim</a:t>
            </a:r>
            <a:r>
              <a:rPr lang="en-US" altLang="en-US" sz="16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work.&lt;</a:t>
            </a:r>
            <a:r>
              <a:rPr lang="en-US" altLang="en-US" sz="1600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your_testbench_name</a:t>
            </a:r>
            <a:r>
              <a:rPr lang="en-US" altLang="en-US" sz="16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&gt;_tb -L C:/intelFPGA_lite/21.1/questa_fse/intel/verilog/altera_mf -</a:t>
            </a:r>
            <a:r>
              <a:rPr lang="en-US" altLang="en-US" sz="1600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voptargs</a:t>
            </a:r>
            <a:r>
              <a:rPr lang="en-US" altLang="en-US" sz="16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="+acc"</a:t>
            </a:r>
          </a:p>
          <a:p>
            <a:pPr marL="742950" lvl="1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en-US" altLang="en-US" sz="1600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 1b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Fix design to meet timing constraints.</a:t>
            </a:r>
            <a:endParaRPr lang="en-US" altLang="en-US" sz="16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6175" lvl="2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Change the clock in the Synopsys Design Constraint (.</a:t>
            </a:r>
            <a:r>
              <a:rPr lang="en-US" altLang="en-US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sdc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file to 200 MHz by changing the clock period (in nanoseconds).</a:t>
            </a:r>
          </a:p>
          <a:p>
            <a:pPr marL="1146175" lvl="2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Synthesize the design again and see if it meets timing by looking at the reports from the </a:t>
            </a:r>
            <a:r>
              <a:rPr lang="en-US" altLang="en-US" sz="1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Timing Analyzer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Here is a 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helpful video</a:t>
            </a: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that shows how to do it.</a:t>
            </a:r>
          </a:p>
          <a:p>
            <a:pPr marL="1146175" lvl="2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Fix the design to meet the timing requirements of the 200 MHz clock.</a:t>
            </a:r>
          </a:p>
        </p:txBody>
      </p:sp>
    </p:spTree>
    <p:extLst>
      <p:ext uri="{BB962C8B-B14F-4D97-AF65-F5344CB8AC3E}">
        <p14:creationId xmlns:p14="http://schemas.microsoft.com/office/powerpoint/2010/main" val="1563877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429E2-4BCD-FBA9-8123-C250C575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A2B94-F2B1-947E-BFBD-7D5989BB0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Part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746DC-9BD0-2DFD-F08C-5FBB59CE08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42915"/>
            <a:ext cx="4727897" cy="350865"/>
          </a:xfrm>
        </p:spPr>
        <p:txBody>
          <a:bodyPr/>
          <a:lstStyle/>
          <a:p>
            <a:r>
              <a:rPr lang="en-US" dirty="0"/>
              <a:t>ECE 554: Digital Engineering Laboratory (Spring 2025)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FCC05DF3-8FDA-DF65-3CF0-CA9139BC3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1905000"/>
            <a:ext cx="7840196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360" tIns="44280" rIns="90360" bIns="44280"/>
          <a:lstStyle>
            <a:lvl1pPr marL="339725" indent="-33972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39775" indent="-28257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eaLnBrk="1" hangingPunct="1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ar-SA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‏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 2 also consists of 2 subparts.</a:t>
            </a:r>
          </a:p>
          <a:p>
            <a:pPr marL="742950" lvl="1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en-US" altLang="en-US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 2a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1146175" lvl="2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LEDs to display and track the states of your top-level state-machine. </a:t>
            </a:r>
          </a:p>
          <a:p>
            <a:pPr marL="1146175" lvl="2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7-segment display the outputs of the MACs. (Please)</a:t>
            </a:r>
          </a:p>
          <a:p>
            <a:pPr marL="803275" lvl="2" indent="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 1: Use switches to control the displays. The board has 10 switches; so, there are 2^10 different ways of control.</a:t>
            </a:r>
          </a:p>
          <a:p>
            <a:pPr marL="803275" lvl="2" indent="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 2: Minilab 0 codes may be handy.</a:t>
            </a:r>
          </a:p>
          <a:p>
            <a:pPr marL="803275" lvl="2" indent="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</a:pPr>
            <a:endParaRPr lang="en-US" alt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en-US" altLang="en-US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 2b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Use 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SignalTap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ensure that you have implemented the Avalon MM interface correctly.</a:t>
            </a:r>
          </a:p>
        </p:txBody>
      </p:sp>
    </p:spTree>
    <p:extLst>
      <p:ext uri="{BB962C8B-B14F-4D97-AF65-F5344CB8AC3E}">
        <p14:creationId xmlns:p14="http://schemas.microsoft.com/office/powerpoint/2010/main" val="2537911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C69BB-8B88-91BE-48FD-39F838860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7133735-0E26-CF07-C1E9-C76EBC595F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42915"/>
            <a:ext cx="4727897" cy="350865"/>
          </a:xfrm>
        </p:spPr>
        <p:txBody>
          <a:bodyPr/>
          <a:lstStyle/>
          <a:p>
            <a:r>
              <a:rPr lang="en-US" dirty="0"/>
              <a:t>ECE 554: Digital Engineering Laboratory (Spring 2025)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08724D2D-70AD-4F8E-85D1-3863AFD9A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1905000"/>
            <a:ext cx="7840196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360" tIns="44280" rIns="90360" bIns="44280"/>
          <a:lstStyle>
            <a:lvl1pPr marL="339725" indent="-33972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39775" indent="-28257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eaLnBrk="1" hangingPunct="1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ar-SA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‏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Simulation of working design</a:t>
            </a:r>
          </a:p>
          <a:p>
            <a:pPr marL="342900" indent="-342900" eaLnBrk="1" hangingPunct="1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Timing analyzer report</a:t>
            </a:r>
          </a:p>
          <a:p>
            <a:pPr marL="342900" indent="-342900" eaLnBrk="1" hangingPunct="1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On-board testing with LEDs, 7-segment display, and switches.</a:t>
            </a:r>
          </a:p>
          <a:p>
            <a:pPr marL="342900" indent="-342900" eaLnBrk="1" hangingPunct="1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On-board testing with 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SignalTap</a:t>
            </a:r>
            <a:endParaRPr lang="en-US" alt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endParaRPr lang="en-US" alt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795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9F84-BFA6-6C00-36A4-5315EC0C9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66365-02A6-B61C-6C45-DB3CEFB501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42915"/>
            <a:ext cx="4727897" cy="350865"/>
          </a:xfrm>
        </p:spPr>
        <p:txBody>
          <a:bodyPr/>
          <a:lstStyle/>
          <a:p>
            <a:r>
              <a:rPr lang="en-US" dirty="0"/>
              <a:t>ECE 554: Digital Engineering Laboratory (Spring 2025)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5D4FC23-9F2D-C3F2-9F2B-A848D1904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1905000"/>
            <a:ext cx="8511268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360" tIns="44280" rIns="90360" bIns="44280"/>
          <a:lstStyle>
            <a:lvl1pPr marL="339725" indent="-33972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39775" indent="-282575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ar-SA" alt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‏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Create a new public GitHub repository for your minilab submission (1 per team.</a:t>
            </a: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Push all relevant files to the repository, including your codes, testbenches, and simulation logs. If for the implementation IPs are used, also add all IP-related files. </a:t>
            </a:r>
          </a:p>
          <a:p>
            <a:pPr>
              <a:buFont typeface="Wingdings" pitchFamily="2" charset="2"/>
              <a:buChar char="q"/>
            </a:pP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0" indent="0"/>
            <a:r>
              <a:rPr lang="en-US" sz="1600" b="1" dirty="0">
                <a:solidFill>
                  <a:schemeClr val="accent1"/>
                </a:solidFill>
                <a:latin typeface="+mn-lt"/>
              </a:rPr>
              <a:t>NOTE: Simulation log with proper print statements from the testbench that explains whether a test passed or failed. If the design failed a test, it should print where and why it failed.</a:t>
            </a:r>
          </a:p>
          <a:p>
            <a:pPr marL="0" indent="0"/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en-US" alt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Minilab 1 report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is due on 2/4 before the start of Minilab 2.</a:t>
            </a:r>
          </a:p>
          <a:p>
            <a:pPr marL="342900" indent="-342900" eaLnBrk="1" hangingPunct="1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In your report (1 per team), explain:</a:t>
            </a:r>
          </a:p>
          <a:p>
            <a:pPr marL="742950" lvl="1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How you tested the design via simulation (screenshot of waveform).</a:t>
            </a:r>
          </a:p>
          <a:p>
            <a:pPr marL="742950" lvl="1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How you fixed the design to meet the timing constraint.</a:t>
            </a:r>
          </a:p>
          <a:p>
            <a:pPr marL="742950" lvl="1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How you tested the design on board using an example and snapshot of the board that shows it.</a:t>
            </a:r>
          </a:p>
          <a:p>
            <a:pPr marL="742950" lvl="1" indent="-34290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How you tested the design using 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SignalTap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(screenshot of waveform around the trigger condition).</a:t>
            </a:r>
          </a:p>
          <a:p>
            <a:pPr lvl="1">
              <a:buFont typeface="Wingdings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Explain any difficulties that you faced during the whole process and how you overcame it.</a:t>
            </a:r>
          </a:p>
          <a:p>
            <a:pPr marL="342900" indent="-342900" eaLnBrk="1" hangingPunct="1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Wingdings" pitchFamily="2" charset="2"/>
              <a:buChar char="q"/>
            </a:pPr>
            <a:endParaRPr lang="en-US" alt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91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E51B0B-9F34-8FDE-3A7E-1A3ECB2A8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044946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theme1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C5050C"/>
      </a:accent2>
      <a:accent3>
        <a:srgbClr val="9B0000"/>
      </a:accent3>
      <a:accent4>
        <a:srgbClr val="FCCB51"/>
      </a:accent4>
      <a:accent5>
        <a:srgbClr val="80B3AE"/>
      </a:accent5>
      <a:accent6>
        <a:srgbClr val="ADADAD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text-Arial-4_3" id="{4616AA6B-8CF9-4D42-B76B-8CDA5E855D09}" vid="{5E7019BA-DD71-D246-9713-ED8C055577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7595</TotalTime>
  <Words>1220</Words>
  <Application>Microsoft Macintosh PowerPoint</Application>
  <PresentationFormat>On-screen Show (4:3)</PresentationFormat>
  <Paragraphs>196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Lucida Console</vt:lpstr>
      <vt:lpstr>Wingdings</vt:lpstr>
      <vt:lpstr>Office Theme</vt:lpstr>
      <vt:lpstr>ECE 554: Minilab 1</vt:lpstr>
      <vt:lpstr>Minilab 0 - Minilab 1</vt:lpstr>
      <vt:lpstr>Design validation</vt:lpstr>
      <vt:lpstr>Example design: matrix-vector multiplication</vt:lpstr>
      <vt:lpstr>Instantiating Regular Structures</vt:lpstr>
      <vt:lpstr>Part 1</vt:lpstr>
      <vt:lpstr>Part 2</vt:lpstr>
      <vt:lpstr>Demo</vt:lpstr>
      <vt:lpstr>Deliverables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Tzimpragos, Georgios</dc:creator>
  <cp:lastModifiedBy>Tzimpragos, Georgios</cp:lastModifiedBy>
  <cp:revision>104</cp:revision>
  <dcterms:created xsi:type="dcterms:W3CDTF">2025-01-21T17:39:26Z</dcterms:created>
  <dcterms:modified xsi:type="dcterms:W3CDTF">2025-01-28T21:08:42Z</dcterms:modified>
</cp:coreProperties>
</file>